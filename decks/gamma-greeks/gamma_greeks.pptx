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75" cy="689457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7315200" cy="29260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 spc="140">
                <a:solidFill>
                  <a:srgbClr val="E4B15A"/>
                </a:solidFill>
                <a:latin typeface="Inter"/>
                <a:ea typeface="Inter"/>
                <a:cs typeface="Inter"/>
              </a:rPr>
              <a:t>FOR DOMINIC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920240"/>
            <a:ext cx="10972800" cy="7863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Gamma &amp; the Greeks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2852928"/>
            <a:ext cx="1965960" cy="32004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035808"/>
            <a:ext cx="960120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How dealer hedging moves price, and how to trade the Greeks.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9144000" cy="310896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Retail cash account   ·   SPY snapshot 16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73168"/>
            <a:ext cx="5486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en-US" spc="80">
                <a:solidFill>
                  <a:srgbClr val="93A0B8"/>
                </a:solidFill>
                <a:latin typeface="Inter"/>
                <a:ea typeface="Inter"/>
                <a:cs typeface="Inter"/>
              </a:rPr>
              <a:t>IN THIS BRIEFING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102352"/>
            <a:ext cx="2683764" cy="960120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5193792"/>
            <a:ext cx="2391156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5468112"/>
            <a:ext cx="2391156" cy="38404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The hedge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2988" y="5102352"/>
            <a:ext cx="2683764" cy="960120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9292" y="5193792"/>
            <a:ext cx="2391156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9292" y="5468112"/>
            <a:ext cx="2391156" cy="38404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The flip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5102352"/>
            <a:ext cx="2683764" cy="960120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5193792"/>
            <a:ext cx="2391156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468112"/>
            <a:ext cx="2391156" cy="38404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Walls and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3124" y="5102352"/>
            <a:ext cx="2683764" cy="960120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9428" y="5193792"/>
            <a:ext cx="2391156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9428" y="5468112"/>
            <a:ext cx="2391156" cy="38404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The Greeks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Educational briefing. Not a recommendation to trade.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75" cy="689457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90">
                <a:solidFill>
                  <a:srgbClr val="E4B15A"/>
                </a:solidFill>
                <a:latin typeface="Inter"/>
                <a:ea typeface="Inter"/>
                <a:cs typeface="Inter"/>
              </a:rPr>
              <a:t>01     DEALER HEDGING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47548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Dealers hedge with the underlying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1384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They trade shares against options they have sold. That flow is a push on price.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" y="1316736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1463040"/>
            <a:ext cx="2622042" cy="221284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3776" y="1627632"/>
            <a:ext cx="50292" cy="1883664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09344"/>
            <a:ext cx="2237994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01952"/>
            <a:ext cx="2256282" cy="585216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SOLD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60320"/>
            <a:ext cx="2237994" cy="86868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Customers buy the option.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The dealer is short it.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70098" y="2496312"/>
            <a:ext cx="182880" cy="146304"/>
          </a:xfrm>
          <a:prstGeom prst="rightArrow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16986" y="1463040"/>
            <a:ext cx="2622042" cy="221284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6714" y="1627632"/>
            <a:ext cx="50292" cy="1883664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3018" y="1609344"/>
            <a:ext cx="2237994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4730" y="1901952"/>
            <a:ext cx="2256282" cy="585216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DELTA MOVES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4730" y="2560320"/>
            <a:ext cx="2237994" cy="86868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Spot changes.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Delta changes with it.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03036" y="2496312"/>
            <a:ext cx="182880" cy="146304"/>
          </a:xfrm>
          <a:prstGeom prst="rightArrow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49924" y="1463040"/>
            <a:ext cx="2622042" cy="221284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9652" y="1627632"/>
            <a:ext cx="50292" cy="1883664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1609344"/>
            <a:ext cx="2237994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7668" y="1901952"/>
            <a:ext cx="2256282" cy="585216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HEDGE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7668" y="2560320"/>
            <a:ext cx="2237994" cy="86868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They buy or sell shares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to get flat again.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935974" y="2496312"/>
            <a:ext cx="182880" cy="146304"/>
          </a:xfrm>
          <a:prstGeom prst="rightArrow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82862" y="1463040"/>
            <a:ext cx="2622042" cy="221284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92590" y="1627632"/>
            <a:ext cx="50292" cy="1883664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38894" y="1609344"/>
            <a:ext cx="2237994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0606" y="1901952"/>
            <a:ext cx="2256282" cy="585216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PRICE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0606" y="2560320"/>
            <a:ext cx="2237994" cy="86868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Those shares hit the tape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and move the price.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3822191"/>
            <a:ext cx="1097280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en-US" spc="70">
                <a:solidFill>
                  <a:srgbClr val="93A0B8"/>
                </a:solidFill>
                <a:latin typeface="Inter"/>
                <a:ea typeface="Inter"/>
                <a:cs typeface="Inter"/>
              </a:rPr>
              <a:t>GAMMA DECIDES WHICH WAY THAT HEDGE FACES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4133087"/>
            <a:ext cx="5628132" cy="2176272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2064" y="4279392"/>
            <a:ext cx="50292" cy="1883664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4261103"/>
            <a:ext cx="5152644" cy="29260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 spc="40">
                <a:solidFill>
                  <a:srgbClr val="3DDC97"/>
                </a:solidFill>
                <a:latin typeface="Inter"/>
                <a:ea typeface="Inter"/>
                <a:cs typeface="Inter"/>
              </a:rPr>
              <a:t>LONG GAMMA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" y="4572000"/>
            <a:ext cx="5152644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Above the flip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" y="5010912"/>
            <a:ext cx="5125212" cy="73152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Buy dips, sell rips.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Price ranges and pins.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6772" y="4133087"/>
            <a:ext cx="5628132" cy="2176272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4788" y="4279392"/>
            <a:ext cx="50292" cy="1883664"/>
          </a:xfrm>
          <a:prstGeom prst="rect">
            <a:avLst/>
          </a:prstGeom>
          <a:solidFill>
            <a:srgbClr val="FF6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5956" y="4261103"/>
            <a:ext cx="5152644" cy="29260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 spc="40">
                <a:solidFill>
                  <a:srgbClr val="FF6B81"/>
                </a:solidFill>
                <a:latin typeface="Inter"/>
                <a:ea typeface="Inter"/>
                <a:cs typeface="Inter"/>
              </a:rPr>
              <a:t>SHORT GAMMA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7668" y="4572000"/>
            <a:ext cx="5152644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Below the flip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87668" y="5010912"/>
            <a:ext cx="5125212" cy="73152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Sell drops, buy rips.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Moves accelerate and trend.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4048" y="6455664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84048" y="6528816"/>
            <a:ext cx="4206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 spc="60">
                <a:solidFill>
                  <a:srgbClr val="93A0B8"/>
                </a:solidFill>
                <a:latin typeface="Inter"/>
                <a:ea typeface="Inter"/>
                <a:cs typeface="Inter"/>
              </a:rPr>
              <a:t>GAMMA  &amp;  THE GREEKS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6528816"/>
            <a:ext cx="35661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Educational briefing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6528816"/>
            <a:ext cx="3383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02   /  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75" cy="689457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90">
                <a:solidFill>
                  <a:srgbClr val="E4B15A"/>
                </a:solidFill>
                <a:latin typeface="Inter"/>
                <a:ea typeface="Inter"/>
                <a:cs typeface="Inter"/>
              </a:rPr>
              <a:t>02     POSITIVE GAMMA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47548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Buy dips, sell rips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1384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Above the flip. Dealers are long gamma, so the hedge fades the move.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" y="1316736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1463040"/>
            <a:ext cx="4617720" cy="4846320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1627632"/>
            <a:ext cx="50292" cy="451713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09344"/>
            <a:ext cx="402336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70">
                <a:solidFill>
                  <a:srgbClr val="3DDC97"/>
                </a:solidFill>
                <a:latin typeface="Inter"/>
                <a:ea typeface="Inter"/>
                <a:cs typeface="Inter"/>
              </a:rPr>
              <a:t>ABOVE THE FLIP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883664"/>
            <a:ext cx="4114800" cy="3657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Price ranges and pins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377440"/>
            <a:ext cx="40690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Dealers are net long options.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They buy dips and sell rips.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The hedge fights the move.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749039"/>
            <a:ext cx="4178808" cy="1965960"/>
          </a:xfrm>
          <a:prstGeom prst="roundRect">
            <a:avLst>
              <a:gd name="adj" fmla="val 10000"/>
            </a:avLst>
          </a:prstGeom>
          <a:solidFill>
            <a:srgbClr val="1C2742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58768"/>
            <a:ext cx="1283208" cy="219456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en-US" spc="40">
                <a:solidFill>
                  <a:srgbClr val="93A0B8"/>
                </a:solidFill>
                <a:latin typeface="Inter"/>
                <a:ea typeface="Inter"/>
                <a:cs typeface="Inter"/>
              </a:rPr>
              <a:t>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96511"/>
            <a:ext cx="1283208" cy="4389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90288"/>
            <a:ext cx="1283208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short shares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9592" y="3858768"/>
            <a:ext cx="1283208" cy="219456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en-US" spc="40">
                <a:solidFill>
                  <a:srgbClr val="93A0B8"/>
                </a:solidFill>
                <a:latin typeface="Inter"/>
                <a:ea typeface="Inter"/>
                <a:cs typeface="Inter"/>
              </a:rPr>
              <a:t>UP  $1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69592" y="4096511"/>
            <a:ext cx="1283208" cy="4389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en-US">
                <a:solidFill>
                  <a:srgbClr val="FF6B81"/>
                </a:solidFill>
                <a:latin typeface="Inter"/>
                <a:ea typeface="Inter"/>
                <a:cs typeface="Inter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9592" y="4590288"/>
            <a:ext cx="1283208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sell the rip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7664" y="3858768"/>
            <a:ext cx="1283208" cy="219456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en-US" spc="40">
                <a:solidFill>
                  <a:srgbClr val="93A0B8"/>
                </a:solidFill>
                <a:latin typeface="Inter"/>
                <a:ea typeface="Inter"/>
                <a:cs typeface="Inter"/>
              </a:rPr>
              <a:t>DOWN  $1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7664" y="4096511"/>
            <a:ext cx="1283208" cy="4389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en-US">
                <a:solidFill>
                  <a:srgbClr val="3DDC97"/>
                </a:solidFill>
                <a:latin typeface="Inter"/>
                <a:ea typeface="Inter"/>
                <a:cs typeface="Inter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7664" y="4590288"/>
            <a:ext cx="1283208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buy the dip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04104"/>
            <a:ext cx="3959352" cy="23774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Example · long 10 calls · long puts fade too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66359" y="1463040"/>
            <a:ext cx="6638544" cy="4846320"/>
          </a:xfrm>
          <a:prstGeom prst="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59" y="1463040"/>
            <a:ext cx="6638544" cy="48463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166359" y="1463040"/>
            <a:ext cx="6638544" cy="4846320"/>
          </a:xfrm>
          <a:prstGeom prst="rect">
            <a:avLst/>
          </a:prstGeom>
          <a:noFill/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84048" y="6455664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84048" y="6528816"/>
            <a:ext cx="4206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 spc="60">
                <a:solidFill>
                  <a:srgbClr val="93A0B8"/>
                </a:solidFill>
                <a:latin typeface="Inter"/>
                <a:ea typeface="Inter"/>
                <a:cs typeface="Inter"/>
              </a:rPr>
              <a:t>GAMMA  &amp;  THE GREEKS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528816"/>
            <a:ext cx="35661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Educational briefing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6528816"/>
            <a:ext cx="3383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03   /  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75" cy="689457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90">
                <a:solidFill>
                  <a:srgbClr val="E4B15A"/>
                </a:solidFill>
                <a:latin typeface="Inter"/>
                <a:ea typeface="Inter"/>
                <a:cs typeface="Inter"/>
              </a:rPr>
              <a:t>03     NEGATIVE GAMMA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47548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Sell drops, buy rips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1384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Below the flip. Dealers are short gamma, so the hedge chases the move.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" y="1316736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1463040"/>
            <a:ext cx="4617720" cy="4846320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1627632"/>
            <a:ext cx="50292" cy="4517136"/>
          </a:xfrm>
          <a:prstGeom prst="rect">
            <a:avLst/>
          </a:prstGeom>
          <a:solidFill>
            <a:srgbClr val="FF6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09344"/>
            <a:ext cx="402336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70">
                <a:solidFill>
                  <a:srgbClr val="FF6B81"/>
                </a:solidFill>
                <a:latin typeface="Inter"/>
                <a:ea typeface="Inter"/>
                <a:cs typeface="Inter"/>
              </a:rPr>
              <a:t>BELOW THE FLIP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883664"/>
            <a:ext cx="4114800" cy="3657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Moves accelerate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377440"/>
            <a:ext cx="40690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Dealers are net short options.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They sell drops and buy rips.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The hedge feeds the move.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749039"/>
            <a:ext cx="4178808" cy="1965960"/>
          </a:xfrm>
          <a:prstGeom prst="roundRect">
            <a:avLst>
              <a:gd name="adj" fmla="val 10000"/>
            </a:avLst>
          </a:prstGeom>
          <a:solidFill>
            <a:srgbClr val="1C2742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58768"/>
            <a:ext cx="1283208" cy="219456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en-US" spc="40">
                <a:solidFill>
                  <a:srgbClr val="93A0B8"/>
                </a:solidFill>
                <a:latin typeface="Inter"/>
                <a:ea typeface="Inter"/>
                <a:cs typeface="Inter"/>
              </a:rPr>
              <a:t>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96511"/>
            <a:ext cx="1283208" cy="4389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90288"/>
            <a:ext cx="1283208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long shares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9592" y="3858768"/>
            <a:ext cx="1283208" cy="219456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en-US" spc="40">
                <a:solidFill>
                  <a:srgbClr val="93A0B8"/>
                </a:solidFill>
                <a:latin typeface="Inter"/>
                <a:ea typeface="Inter"/>
                <a:cs typeface="Inter"/>
              </a:rPr>
              <a:t>UP  $1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69592" y="4096511"/>
            <a:ext cx="1283208" cy="4389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en-US">
                <a:solidFill>
                  <a:srgbClr val="3DDC97"/>
                </a:solidFill>
                <a:latin typeface="Inter"/>
                <a:ea typeface="Inter"/>
                <a:cs typeface="Inter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9592" y="4590288"/>
            <a:ext cx="1283208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buy the rip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7664" y="3858768"/>
            <a:ext cx="1283208" cy="219456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en-US" spc="40">
                <a:solidFill>
                  <a:srgbClr val="93A0B8"/>
                </a:solidFill>
                <a:latin typeface="Inter"/>
                <a:ea typeface="Inter"/>
                <a:cs typeface="Inter"/>
              </a:rPr>
              <a:t>DOWN  $1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7664" y="4096511"/>
            <a:ext cx="1283208" cy="4389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en-US">
                <a:solidFill>
                  <a:srgbClr val="FF6B81"/>
                </a:solidFill>
                <a:latin typeface="Inter"/>
                <a:ea typeface="Inter"/>
                <a:cs typeface="Inter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7664" y="4590288"/>
            <a:ext cx="1283208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sell the drop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04104"/>
            <a:ext cx="3959352" cy="23774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Example · short 10 calls · short puts chase too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66359" y="1463040"/>
            <a:ext cx="6638544" cy="4846320"/>
          </a:xfrm>
          <a:prstGeom prst="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59" y="1463040"/>
            <a:ext cx="6638544" cy="48463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166359" y="1463040"/>
            <a:ext cx="6638544" cy="4846320"/>
          </a:xfrm>
          <a:prstGeom prst="rect">
            <a:avLst/>
          </a:prstGeom>
          <a:noFill/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84048" y="6455664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84048" y="6528816"/>
            <a:ext cx="4206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 spc="60">
                <a:solidFill>
                  <a:srgbClr val="93A0B8"/>
                </a:solidFill>
                <a:latin typeface="Inter"/>
                <a:ea typeface="Inter"/>
                <a:cs typeface="Inter"/>
              </a:rPr>
              <a:t>GAMMA  &amp;  THE GREEKS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528816"/>
            <a:ext cx="35661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Educational briefing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6528816"/>
            <a:ext cx="3383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04   /  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75" cy="689457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90">
                <a:solidFill>
                  <a:srgbClr val="E4B15A"/>
                </a:solidFill>
                <a:latin typeface="Inter"/>
                <a:ea typeface="Inter"/>
                <a:cs typeface="Inter"/>
              </a:rPr>
              <a:t>04     THREE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47548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Flip, call wall, put 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1384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Three strikes that change the speed of the tape.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" y="1316736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1463040"/>
            <a:ext cx="3709416" cy="4160520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463040"/>
            <a:ext cx="3709416" cy="54864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682496"/>
            <a:ext cx="3343656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70">
                <a:solidFill>
                  <a:srgbClr val="E4B15A"/>
                </a:solidFill>
                <a:latin typeface="Inter"/>
                <a:ea typeface="Inter"/>
                <a:cs typeface="Inter"/>
              </a:rPr>
              <a:t>THE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93392"/>
            <a:ext cx="3343656" cy="4389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Gamma flip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651760"/>
            <a:ext cx="3325368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Dealer gamma changes sign here.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Above it, they fade the move.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Below it, they chase the move.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5216" y="4572000"/>
            <a:ext cx="3307080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4754880"/>
            <a:ext cx="3325368" cy="65836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A loss of the flip is a regime change.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39768" y="1463040"/>
            <a:ext cx="3709416" cy="4160520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9768" y="1463040"/>
            <a:ext cx="3709416" cy="54864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0936" y="1682496"/>
            <a:ext cx="3343656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70">
                <a:solidFill>
                  <a:srgbClr val="3DDC97"/>
                </a:solidFill>
                <a:latin typeface="Inter"/>
                <a:ea typeface="Inter"/>
                <a:cs typeface="Inter"/>
              </a:rPr>
              <a:t>ABOVE SPOT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2648" y="1993392"/>
            <a:ext cx="3343656" cy="4389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Call wall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2648" y="2651760"/>
            <a:ext cx="3325368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The large call-gamma strike above spot.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It can resist, or act as a magnet.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Price often slows as it gets there.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40936" y="4572000"/>
            <a:ext cx="3307079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22648" y="4754880"/>
            <a:ext cx="3325368" cy="65836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A break above it can squeeze higher.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5488" y="1463040"/>
            <a:ext cx="3709416" cy="4160520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5488" y="1463040"/>
            <a:ext cx="3709416" cy="54864"/>
          </a:xfrm>
          <a:prstGeom prst="rect">
            <a:avLst/>
          </a:prstGeom>
          <a:solidFill>
            <a:srgbClr val="FF6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6656" y="1682496"/>
            <a:ext cx="3343656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70">
                <a:solidFill>
                  <a:srgbClr val="FF6B81"/>
                </a:solidFill>
                <a:latin typeface="Inter"/>
                <a:ea typeface="Inter"/>
                <a:cs typeface="Inter"/>
              </a:rPr>
              <a:t>BELOW SPOT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8367" y="1993392"/>
            <a:ext cx="3343656" cy="4389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Put wall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8367" y="2651760"/>
            <a:ext cx="3325368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The large put-gamma strike below spot.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It is support while it holds.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Dealers are leaning against a drop.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96656" y="4572000"/>
            <a:ext cx="3307080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78367" y="4754880"/>
            <a:ext cx="3325368" cy="65836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A break below it speeds up selling.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5769864"/>
            <a:ext cx="1133856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Walls slow price. They are not floors or ceilings. A break changes the speed.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84048" y="6455664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84048" y="6528816"/>
            <a:ext cx="4206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 spc="60">
                <a:solidFill>
                  <a:srgbClr val="93A0B8"/>
                </a:solidFill>
                <a:latin typeface="Inter"/>
                <a:ea typeface="Inter"/>
                <a:cs typeface="Inter"/>
              </a:rPr>
              <a:t>GAMMA  &amp;  THE GREEKS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528816"/>
            <a:ext cx="35661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Educational briefing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6528816"/>
            <a:ext cx="3383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05   /  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75" cy="689457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90">
                <a:solidFill>
                  <a:srgbClr val="E4B15A"/>
                </a:solidFill>
                <a:latin typeface="Inter"/>
                <a:ea typeface="Inter"/>
                <a:cs typeface="Inter"/>
              </a:rPr>
              <a:t>05     EXAMPLE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47548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Gamma by strike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1384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Illustrative numbers only, so the labels are easy to see. The SPY snapshot is next.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" y="1316736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4048" y="1463040"/>
            <a:ext cx="11420856" cy="4846320"/>
          </a:xfrm>
          <a:prstGeom prst="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ex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63040"/>
            <a:ext cx="11420856" cy="4846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4048" y="1463040"/>
            <a:ext cx="11420856" cy="4846320"/>
          </a:xfrm>
          <a:prstGeom prst="rect">
            <a:avLst/>
          </a:prstGeom>
          <a:noFill/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55664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4048" y="6528816"/>
            <a:ext cx="4206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 spc="60">
                <a:solidFill>
                  <a:srgbClr val="93A0B8"/>
                </a:solidFill>
                <a:latin typeface="Inter"/>
                <a:ea typeface="Inter"/>
                <a:cs typeface="Inter"/>
              </a:rPr>
              <a:t>GAMMA  &amp;  THE GREEKS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528816"/>
            <a:ext cx="35661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Educational briefing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528816"/>
            <a:ext cx="3383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06   /  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75" cy="689457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90">
                <a:solidFill>
                  <a:srgbClr val="E4B15A"/>
                </a:solidFill>
                <a:latin typeface="Inter"/>
                <a:ea typeface="Inter"/>
                <a:cs typeface="Inter"/>
              </a:rPr>
              <a:t>06     SPY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47548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SPY at the 16 Oct 2026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1384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Real levels. Spot about 763.25, above the flip, inside a one-point pocket.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" y="1316736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1463040"/>
            <a:ext cx="6903720" cy="484632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14016" y="1901952"/>
            <a:ext cx="329184" cy="2967306"/>
          </a:xfrm>
          <a:prstGeom prst="rect">
            <a:avLst/>
          </a:prstGeom>
          <a:solidFill>
            <a:srgbClr val="10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4869258"/>
            <a:ext cx="329184" cy="1019477"/>
          </a:xfrm>
          <a:prstGeom prst="rect">
            <a:avLst/>
          </a:prstGeom>
          <a:solidFill>
            <a:srgbClr val="2C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14016" y="3268849"/>
            <a:ext cx="329184" cy="569540"/>
          </a:xfrm>
          <a:prstGeom prst="rect">
            <a:avLst/>
          </a:prstGeom>
          <a:solidFill>
            <a:srgbClr val="3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834640" y="1901952"/>
            <a:ext cx="0" cy="3986784"/>
          </a:xfrm>
          <a:prstGeom prst="line">
            <a:avLst/>
          </a:prstGeom>
          <a:ln w="17145">
            <a:solidFill>
              <a:srgbClr val="93A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16352" y="3268849"/>
            <a:ext cx="146304" cy="0"/>
          </a:xfrm>
          <a:prstGeom prst="line">
            <a:avLst/>
          </a:prstGeom>
          <a:ln w="22225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816352" y="3696004"/>
            <a:ext cx="146304" cy="0"/>
          </a:xfrm>
          <a:prstGeom prst="line">
            <a:avLst/>
          </a:prstGeom>
          <a:ln w="22225">
            <a:solidFill>
              <a:srgbClr val="E4B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16352" y="3838389"/>
            <a:ext cx="146304" cy="0"/>
          </a:xfrm>
          <a:prstGeom prst="line">
            <a:avLst/>
          </a:prstGeom>
          <a:ln w="22225">
            <a:solidFill>
              <a:srgbClr val="FF6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16352" y="4869258"/>
            <a:ext cx="146304" cy="0"/>
          </a:xfrm>
          <a:prstGeom prst="line">
            <a:avLst/>
          </a:prstGeom>
          <a:ln w="22225">
            <a:solidFill>
              <a:srgbClr val="6E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2064" y="3531412"/>
            <a:ext cx="1773936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SPOT  ≈ 763.25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2384" y="1920240"/>
            <a:ext cx="4069079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40">
                <a:solidFill>
                  <a:srgbClr val="3DDC97"/>
                </a:solidFill>
                <a:latin typeface="Inter"/>
                <a:ea typeface="Inter"/>
                <a:cs typeface="Inter"/>
              </a:rPr>
              <a:t>POSITIVE GAMMA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113401"/>
            <a:ext cx="4069079" cy="310896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en-US">
                <a:solidFill>
                  <a:srgbClr val="3DDC97"/>
                </a:solidFill>
                <a:latin typeface="Inter"/>
                <a:ea typeface="Inter"/>
                <a:cs typeface="Inter"/>
              </a:rPr>
              <a:t>CALL WALL    764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62656" y="3838389"/>
            <a:ext cx="73152" cy="429768"/>
          </a:xfrm>
          <a:prstGeom prst="line">
            <a:avLst/>
          </a:prstGeom>
          <a:ln w="14604">
            <a:solidFill>
              <a:srgbClr val="FF6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72384" y="4112709"/>
            <a:ext cx="4069079" cy="310896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en-US">
                <a:solidFill>
                  <a:srgbClr val="FF6B81"/>
                </a:solidFill>
                <a:latin typeface="Inter"/>
                <a:ea typeface="Inter"/>
                <a:cs typeface="Inter"/>
              </a:rPr>
              <a:t>PUT WALL    763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4713810"/>
            <a:ext cx="4069079" cy="310896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en-US">
                <a:solidFill>
                  <a:srgbClr val="6EC8FF"/>
                </a:solidFill>
                <a:latin typeface="Inter"/>
                <a:ea typeface="Inter"/>
                <a:cs typeface="Inter"/>
              </a:rPr>
              <a:t>GAMMA FLIP    761.19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384" y="5198442"/>
            <a:ext cx="4069079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40">
                <a:solidFill>
                  <a:srgbClr val="FF6B81"/>
                </a:solidFill>
                <a:latin typeface="Inter"/>
                <a:ea typeface="Inter"/>
                <a:cs typeface="Inter"/>
              </a:rPr>
              <a:t>NEGATIVE GAMMA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01675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True price scale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34071" y="1463040"/>
            <a:ext cx="4370832" cy="154228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43799" y="1591056"/>
            <a:ext cx="50292" cy="128625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1554480"/>
            <a:ext cx="3950208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50">
                <a:solidFill>
                  <a:srgbClr val="3DDC97"/>
                </a:solidFill>
                <a:latin typeface="Inter"/>
                <a:ea typeface="Inter"/>
                <a:cs typeface="Inter"/>
              </a:rPr>
              <a:t>REGIME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103" y="1847088"/>
            <a:ext cx="3968496" cy="106680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Above the flip by $2.06.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Dealers fade. A range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is the base case.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34071" y="3115056"/>
            <a:ext cx="4370832" cy="154228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43799" y="3243072"/>
            <a:ext cx="50292" cy="1286256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08392" y="3206496"/>
            <a:ext cx="3950208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50">
                <a:solidFill>
                  <a:srgbClr val="E4B15A"/>
                </a:solidFill>
                <a:latin typeface="Inter"/>
                <a:ea typeface="Inter"/>
                <a:cs typeface="Inter"/>
              </a:rPr>
              <a:t>THE POCKET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0103" y="3499104"/>
            <a:ext cx="3968496" cy="106680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763 under spot, 764 over it.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Fade into the walls.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Take profit at the walls.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34071" y="4767072"/>
            <a:ext cx="4370832" cy="154228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43799" y="4895087"/>
            <a:ext cx="50292" cy="1286256"/>
          </a:xfrm>
          <a:prstGeom prst="rect">
            <a:avLst/>
          </a:prstGeom>
          <a:solidFill>
            <a:srgbClr val="FF6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08392" y="4858511"/>
            <a:ext cx="3950208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50">
                <a:solidFill>
                  <a:srgbClr val="FF6B81"/>
                </a:solidFill>
                <a:latin typeface="Inter"/>
                <a:ea typeface="Inter"/>
                <a:cs typeface="Inter"/>
              </a:rPr>
              <a:t>IF IT BREAKS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0103" y="5151120"/>
            <a:ext cx="3968496" cy="106680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Above 764 can squeeze.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Below 763, selling speeds up.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4h close under 761.19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changes the regime.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84048" y="6455664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84048" y="6528816"/>
            <a:ext cx="4206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 spc="60">
                <a:solidFill>
                  <a:srgbClr val="93A0B8"/>
                </a:solidFill>
                <a:latin typeface="Inter"/>
                <a:ea typeface="Inter"/>
                <a:cs typeface="Inter"/>
              </a:rPr>
              <a:t>GAMMA  &amp;  THE GREEKS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6528816"/>
            <a:ext cx="35661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Educational briefing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6528816"/>
            <a:ext cx="3383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07   /  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75" cy="689457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90">
                <a:solidFill>
                  <a:srgbClr val="E4B15A"/>
                </a:solidFill>
                <a:latin typeface="Inter"/>
                <a:ea typeface="Inter"/>
                <a:cs typeface="Inter"/>
              </a:rPr>
              <a:t>07    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47548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Trade the regime you are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1384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Same levels. Opposite trades. The flip picks the playbook.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" y="1316736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1463040"/>
            <a:ext cx="5637276" cy="2788920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1627632"/>
            <a:ext cx="50292" cy="245973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09344"/>
            <a:ext cx="5106924" cy="23774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60">
                <a:solidFill>
                  <a:srgbClr val="3DDC97"/>
                </a:solidFill>
                <a:latin typeface="Inter"/>
                <a:ea typeface="Inter"/>
                <a:cs typeface="Inter"/>
              </a:rPr>
              <a:t>ABOVE THE FLIP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83664"/>
            <a:ext cx="5125212" cy="38404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Fade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5106924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Fade into the walls.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Take profit at the walls.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The base case is a range.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7628" y="1463040"/>
            <a:ext cx="5637276" cy="2788920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3932" y="1627632"/>
            <a:ext cx="50292" cy="2459736"/>
          </a:xfrm>
          <a:prstGeom prst="rect">
            <a:avLst/>
          </a:prstGeom>
          <a:solidFill>
            <a:srgbClr val="FF6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3388" y="1609344"/>
            <a:ext cx="5106924" cy="23774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60">
                <a:solidFill>
                  <a:srgbClr val="FF6B81"/>
                </a:solidFill>
                <a:latin typeface="Inter"/>
                <a:ea typeface="Inter"/>
                <a:cs typeface="Inter"/>
              </a:rPr>
              <a:t>BELOW THE FLIP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1883664"/>
            <a:ext cx="5125212" cy="38404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Go with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2423160"/>
            <a:ext cx="5106924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Trade with the move.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Size down. Use wider stops.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Do not fade.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4379976"/>
            <a:ext cx="3709416" cy="1929384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89704"/>
            <a:ext cx="339852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50">
                <a:solidFill>
                  <a:srgbClr val="E4B15A"/>
                </a:solidFill>
                <a:latin typeface="Inter"/>
                <a:ea typeface="Inter"/>
                <a:cs typeface="Inter"/>
              </a:rPr>
              <a:t>STOPS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800600"/>
            <a:ext cx="3416808" cy="1399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Put them beyond the wall, not on it. A tag of the wall is normal. A stop sitting on it gets run.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39768" y="4379976"/>
            <a:ext cx="3709416" cy="1929384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4360" y="4489704"/>
            <a:ext cx="339852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50">
                <a:solidFill>
                  <a:srgbClr val="6EC8FF"/>
                </a:solidFill>
                <a:latin typeface="Inter"/>
                <a:ea typeface="Inter"/>
                <a:cs typeface="Inter"/>
              </a:rPr>
              <a:t>REGIME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072" y="4800600"/>
            <a:ext cx="3416808" cy="1399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Losing the flip ends the fade. Switch playbooks. Do not keep fading a trend.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5488" y="4379976"/>
            <a:ext cx="3709416" cy="1929384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0080" y="4489704"/>
            <a:ext cx="339852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50">
                <a:solidFill>
                  <a:srgbClr val="E4B15A"/>
                </a:solidFill>
                <a:latin typeface="Inter"/>
                <a:ea typeface="Inter"/>
                <a:cs typeface="Inter"/>
              </a:rPr>
              <a:t>4-HOUR CLOSE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4800600"/>
            <a:ext cx="3416808" cy="1399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Confirm on a 4h candle close. A wick through the level is not a break.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4048" y="6455664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84048" y="6528816"/>
            <a:ext cx="4206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 spc="60">
                <a:solidFill>
                  <a:srgbClr val="93A0B8"/>
                </a:solidFill>
                <a:latin typeface="Inter"/>
                <a:ea typeface="Inter"/>
                <a:cs typeface="Inter"/>
              </a:rPr>
              <a:t>GAMMA  &amp;  THE GREEKS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528816"/>
            <a:ext cx="35661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Educational briefing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6528816"/>
            <a:ext cx="3383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08   /  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75" cy="689457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90">
                <a:solidFill>
                  <a:srgbClr val="E4B15A"/>
                </a:solidFill>
                <a:latin typeface="Inter"/>
                <a:ea typeface="Inter"/>
                <a:cs typeface="Inter"/>
              </a:rPr>
              <a:t>08     TIMEFRAMES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47548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Which clock you are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1384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The same levels do a different job on each clock.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" y="1316736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2455164"/>
            <a:ext cx="10872216" cy="13716"/>
          </a:xfrm>
          <a:prstGeom prst="rect">
            <a:avLst/>
          </a:prstGeom>
          <a:solidFill>
            <a:srgbClr val="2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2125980"/>
            <a:ext cx="2759202" cy="3520440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5216" y="2382012"/>
            <a:ext cx="164592" cy="164592"/>
          </a:xfrm>
          <a:prstGeom prst="ellipse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56332"/>
            <a:ext cx="2430018" cy="4389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INTRADAY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77540"/>
            <a:ext cx="2430018" cy="7132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Levels matter most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4000500"/>
            <a:ext cx="2466594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The flip and the walls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guide the session.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1266" y="2125980"/>
            <a:ext cx="2759202" cy="3520440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2434" y="2382012"/>
            <a:ext cx="164592" cy="164592"/>
          </a:xfrm>
          <a:prstGeom prst="ellipse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5858" y="2656332"/>
            <a:ext cx="2430018" cy="4389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EXPIRATION 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5858" y="3177540"/>
            <a:ext cx="2430018" cy="7132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Price tends to pin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7570" y="4000500"/>
            <a:ext cx="2466594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Large strikes act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as magnets.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8484" y="2125980"/>
            <a:ext cx="2759202" cy="3520440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9652" y="2382012"/>
            <a:ext cx="164592" cy="164592"/>
          </a:xfrm>
          <a:prstGeom prst="ellipse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3076" y="2656332"/>
            <a:ext cx="2430018" cy="4389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THE WEEK AFTER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3076" y="3177540"/>
            <a:ext cx="2430018" cy="7132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Ranges 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4788" y="4000500"/>
            <a:ext cx="2466594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The pin releases once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expiration passes.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5702" y="2125980"/>
            <a:ext cx="2759202" cy="3520440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46870" y="2382012"/>
            <a:ext cx="164592" cy="164592"/>
          </a:xfrm>
          <a:prstGeom prst="ellipse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656332"/>
            <a:ext cx="2430018" cy="4389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OVER A 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177540"/>
            <a:ext cx="2430018" cy="7132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Regime sets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2006" y="4000500"/>
            <a:ext cx="2466594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Above or below the flip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decides how big.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84048" y="6455664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84048" y="6528816"/>
            <a:ext cx="4206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 spc="60">
                <a:solidFill>
                  <a:srgbClr val="93A0B8"/>
                </a:solidFill>
                <a:latin typeface="Inter"/>
                <a:ea typeface="Inter"/>
                <a:cs typeface="Inter"/>
              </a:rPr>
              <a:t>GAMMA  &amp;  THE GREEKS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6528816"/>
            <a:ext cx="35661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Educational briefing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6528816"/>
            <a:ext cx="3383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09   /  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75" cy="689457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90">
                <a:solidFill>
                  <a:srgbClr val="E4B15A"/>
                </a:solidFill>
                <a:latin typeface="Inter"/>
                <a:ea typeface="Inter"/>
                <a:cs typeface="Inter"/>
              </a:rPr>
              <a:t>09     DELTA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47548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The move, and the odds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1384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Per $1 of the underlying, and a rough read on finishing in the money.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" y="1316736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1463040"/>
            <a:ext cx="4160520" cy="154228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3776" y="1591056"/>
            <a:ext cx="50292" cy="1286256"/>
          </a:xfrm>
          <a:prstGeom prst="rect">
            <a:avLst/>
          </a:prstGeom>
          <a:solidFill>
            <a:srgbClr val="6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554480"/>
            <a:ext cx="3739896" cy="3657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 spc="40">
                <a:solidFill>
                  <a:srgbClr val="6EC8FF"/>
                </a:solidFill>
                <a:latin typeface="Inter"/>
                <a:ea typeface="Inter"/>
                <a:cs typeface="Inter"/>
              </a:rPr>
              <a:t>PER $1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758183" cy="975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0.40 delta ≈ $0.40 a share.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About $40 a contract,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before gamma updates.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115056"/>
            <a:ext cx="4160520" cy="154228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" y="3243072"/>
            <a:ext cx="50292" cy="1286256"/>
          </a:xfrm>
          <a:prstGeom prst="rect">
            <a:avLst/>
          </a:prstGeom>
          <a:solidFill>
            <a:srgbClr val="6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06496"/>
            <a:ext cx="3739896" cy="3657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 spc="40">
                <a:solidFill>
                  <a:srgbClr val="6EC8FF"/>
                </a:solidFill>
                <a:latin typeface="Inter"/>
                <a:ea typeface="Inter"/>
                <a:cs typeface="Inter"/>
              </a:rPr>
              <a:t>ROUGH ODDS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90544"/>
            <a:ext cx="3758183" cy="975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Traders read |delta| as the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chance of finishing ITM.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Close to the model. Not equal.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4767072"/>
            <a:ext cx="4160520" cy="154228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6" y="4895087"/>
            <a:ext cx="50292" cy="1286256"/>
          </a:xfrm>
          <a:prstGeom prst="rect">
            <a:avLst/>
          </a:prstGeom>
          <a:solidFill>
            <a:srgbClr val="6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858511"/>
            <a:ext cx="3739896" cy="3657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 spc="40">
                <a:solidFill>
                  <a:srgbClr val="6EC8FF"/>
                </a:solidFill>
                <a:latin typeface="Inter"/>
                <a:ea typeface="Inter"/>
                <a:cs typeface="Inter"/>
              </a:rPr>
              <a:t>THE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42559"/>
            <a:ext cx="3758183" cy="975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The band is 0.40–0.60.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That is the zone for a single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when the move should be fast.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1463040"/>
            <a:ext cx="7095744" cy="4517136"/>
          </a:xfrm>
          <a:prstGeom prst="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63040"/>
            <a:ext cx="7095744" cy="451713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709160" y="1463040"/>
            <a:ext cx="7095744" cy="4517136"/>
          </a:xfrm>
          <a:prstGeom prst="rect">
            <a:avLst/>
          </a:prstGeom>
          <a:noFill/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6035040"/>
            <a:ext cx="7095744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Black–Scholes call  ·  spot 100  ·  IV 20%  ·  30 days  ·  illustrative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4048" y="6455664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4048" y="6528816"/>
            <a:ext cx="4206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 spc="60">
                <a:solidFill>
                  <a:srgbClr val="93A0B8"/>
                </a:solidFill>
                <a:latin typeface="Inter"/>
                <a:ea typeface="Inter"/>
                <a:cs typeface="Inter"/>
              </a:rPr>
              <a:t>GAMMA  &amp;  THE GREEKS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28816"/>
            <a:ext cx="35661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Educational briefing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6528816"/>
            <a:ext cx="3383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10   /  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75" cy="689457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90">
                <a:solidFill>
                  <a:srgbClr val="E4B15A"/>
                </a:solidFill>
                <a:latin typeface="Inter"/>
                <a:ea typeface="Inter"/>
                <a:cs typeface="Inter"/>
              </a:rPr>
              <a:t>10     GAMMA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47548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How fast delta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1384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Highest at the money, and tallest when expiration is close.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" y="1316736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1463040"/>
            <a:ext cx="4160520" cy="154228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3776" y="1591056"/>
            <a:ext cx="50292" cy="128625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554480"/>
            <a:ext cx="3739896" cy="3657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 spc="40">
                <a:solidFill>
                  <a:srgbClr val="3DDC97"/>
                </a:solidFill>
                <a:latin typeface="Inter"/>
                <a:ea typeface="Inter"/>
                <a:cs typeface="Inter"/>
              </a:rPr>
              <a:t>PER $1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758183" cy="975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Gamma of 0.05 means delta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changes by about 0.05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if the underlying moves $1.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115056"/>
            <a:ext cx="4160520" cy="154228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" y="3243072"/>
            <a:ext cx="50292" cy="128625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06496"/>
            <a:ext cx="3739896" cy="3657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 spc="40">
                <a:solidFill>
                  <a:srgbClr val="3DDC97"/>
                </a:solidFill>
                <a:latin typeface="Inter"/>
                <a:ea typeface="Inter"/>
                <a:cs typeface="Inter"/>
              </a:rPr>
              <a:t>THREE CURVES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90544"/>
            <a:ext cx="3758183" cy="975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Same strike, three expirations.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7 days spikes.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90 days is a low hill.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4767072"/>
            <a:ext cx="4160520" cy="154228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6" y="4895087"/>
            <a:ext cx="50292" cy="128625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858511"/>
            <a:ext cx="3739896" cy="3657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 spc="40">
                <a:solidFill>
                  <a:srgbClr val="3DDC97"/>
                </a:solidFill>
                <a:latin typeface="Inter"/>
                <a:ea typeface="Inter"/>
                <a:cs typeface="Inter"/>
              </a:rPr>
              <a:t>YOU PAY FOR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42559"/>
            <a:ext cx="3758183" cy="975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Long gamma wants movement.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A quiet tape hands it back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as theta.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1463040"/>
            <a:ext cx="7095744" cy="4517136"/>
          </a:xfrm>
          <a:prstGeom prst="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ga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63040"/>
            <a:ext cx="7095744" cy="451713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709160" y="1463040"/>
            <a:ext cx="7095744" cy="4517136"/>
          </a:xfrm>
          <a:prstGeom prst="rect">
            <a:avLst/>
          </a:prstGeom>
          <a:noFill/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6035040"/>
            <a:ext cx="7095744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Black–Scholes  ·  strike 100  ·  IV 20%  ·  7, 30, and 90 days  ·  illustrative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4048" y="6455664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4048" y="6528816"/>
            <a:ext cx="4206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 spc="60">
                <a:solidFill>
                  <a:srgbClr val="93A0B8"/>
                </a:solidFill>
                <a:latin typeface="Inter"/>
                <a:ea typeface="Inter"/>
                <a:cs typeface="Inter"/>
              </a:rPr>
              <a:t>GAMMA  &amp;  THE GREEKS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28816"/>
            <a:ext cx="35661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Educational briefing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6528816"/>
            <a:ext cx="3383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11   /  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75" cy="689457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90">
                <a:solidFill>
                  <a:srgbClr val="E4B15A"/>
                </a:solidFill>
                <a:latin typeface="Inter"/>
                <a:ea typeface="Inter"/>
                <a:cs typeface="Inter"/>
              </a:rPr>
              <a:t>11     THETA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47548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What a day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1384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Daily decay of a long option. It speeds up in the last 2–3 weeks.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" y="1316736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1463040"/>
            <a:ext cx="4160520" cy="154228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3776" y="1591056"/>
            <a:ext cx="50292" cy="1286256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554480"/>
            <a:ext cx="3739896" cy="3657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 spc="40">
                <a:solidFill>
                  <a:srgbClr val="E4B15A"/>
                </a:solidFill>
                <a:latin typeface="Inter"/>
                <a:ea typeface="Inter"/>
                <a:cs typeface="Inter"/>
              </a:rPr>
              <a:t>PER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758183" cy="975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The curve is the daily cost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of holding, per share.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Multiply by 100 for one lot.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115056"/>
            <a:ext cx="4160520" cy="154228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" y="3243072"/>
            <a:ext cx="50292" cy="1286256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06496"/>
            <a:ext cx="3739896" cy="3657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 spc="40">
                <a:solidFill>
                  <a:srgbClr val="E4B15A"/>
                </a:solidFill>
                <a:latin typeface="Inter"/>
                <a:ea typeface="Inter"/>
                <a:cs typeface="Inter"/>
              </a:rPr>
              <a:t>THE BEND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90544"/>
            <a:ext cx="3758183" cy="975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Shading is the last 21 days.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That is where decay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gets expensive.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4767072"/>
            <a:ext cx="4160520" cy="154228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6" y="4895087"/>
            <a:ext cx="50292" cy="1286256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858511"/>
            <a:ext cx="3739896" cy="3657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 spc="40">
                <a:solidFill>
                  <a:srgbClr val="E4B15A"/>
                </a:solidFill>
                <a:latin typeface="Inter"/>
                <a:ea typeface="Inter"/>
                <a:cs typeface="Inter"/>
              </a:rPr>
              <a:t>QUIET TAPE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42559"/>
            <a:ext cx="3758183" cy="975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Short-dated longs bleed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when price does nothing.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That is the theta bill.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1463040"/>
            <a:ext cx="7095744" cy="4517136"/>
          </a:xfrm>
          <a:prstGeom prst="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63040"/>
            <a:ext cx="7095744" cy="451713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709160" y="1463040"/>
            <a:ext cx="7095744" cy="4517136"/>
          </a:xfrm>
          <a:prstGeom prst="rect">
            <a:avLst/>
          </a:prstGeom>
          <a:noFill/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6035040"/>
            <a:ext cx="7095744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ATM call  ·  spot = strike = 100  ·  IV 20%  ·  calendar-day decay  ·  illustrative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4048" y="6455664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4048" y="6528816"/>
            <a:ext cx="4206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 spc="60">
                <a:solidFill>
                  <a:srgbClr val="93A0B8"/>
                </a:solidFill>
                <a:latin typeface="Inter"/>
                <a:ea typeface="Inter"/>
                <a:cs typeface="Inter"/>
              </a:rPr>
              <a:t>GAMMA  &amp;  THE GREEKS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28816"/>
            <a:ext cx="35661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Educational briefing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6528816"/>
            <a:ext cx="3383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12   /  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75" cy="689457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90">
                <a:solidFill>
                  <a:srgbClr val="E4B15A"/>
                </a:solidFill>
                <a:latin typeface="Inter"/>
                <a:ea typeface="Inter"/>
                <a:cs typeface="Inter"/>
              </a:rPr>
              <a:t>12     VEGA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47548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What IV can take 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1384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The slope is vega. A drop in IV is a crush — even if direction was right.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" y="1316736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1463040"/>
            <a:ext cx="4160520" cy="154228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3776" y="1591056"/>
            <a:ext cx="50292" cy="128625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554480"/>
            <a:ext cx="3739896" cy="3657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 spc="40">
                <a:solidFill>
                  <a:srgbClr val="C4B5FD"/>
                </a:solidFill>
                <a:latin typeface="Inter"/>
                <a:ea typeface="Inter"/>
                <a:cs typeface="Inter"/>
              </a:rPr>
              <a:t>THE SLOPE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758183" cy="975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Steeper means more vega.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90-day premium moves more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than 30-day premium.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115056"/>
            <a:ext cx="4160520" cy="154228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" y="3243072"/>
            <a:ext cx="50292" cy="128625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06496"/>
            <a:ext cx="3739896" cy="3657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 spc="40">
                <a:solidFill>
                  <a:srgbClr val="C4B5FD"/>
                </a:solidFill>
                <a:latin typeface="Inter"/>
                <a:ea typeface="Inter"/>
                <a:cs typeface="Inter"/>
              </a:rPr>
              <a:t>THE ARROW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90544"/>
            <a:ext cx="3758183" cy="975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30% IV to 18% on the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30-day call. Premium falls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with no move in spot.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4767072"/>
            <a:ext cx="4160520" cy="1542288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6" y="4895087"/>
            <a:ext cx="50292" cy="128625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858511"/>
            <a:ext cx="3739896" cy="3657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 spc="40">
                <a:solidFill>
                  <a:srgbClr val="C4B5FD"/>
                </a:solidFill>
                <a:latin typeface="Inter"/>
                <a:ea typeface="Inter"/>
                <a:cs typeface="Inter"/>
              </a:rPr>
              <a:t>BEFORE YOU BUY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42559"/>
            <a:ext cx="3758183" cy="975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Rich IV favors a spread.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Cheap IV can justify a single.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Check IV first.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1463040"/>
            <a:ext cx="7095744" cy="4517136"/>
          </a:xfrm>
          <a:prstGeom prst="rect">
            <a:avLst/>
          </a:prstGeom>
          <a:solidFill>
            <a:srgbClr val="14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ve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63040"/>
            <a:ext cx="7095744" cy="451713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709160" y="1463040"/>
            <a:ext cx="7095744" cy="4517136"/>
          </a:xfrm>
          <a:prstGeom prst="rect">
            <a:avLst/>
          </a:prstGeom>
          <a:noFill/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6035040"/>
            <a:ext cx="7095744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ATM calls  ·  spot = strike = 100  ·  crush marked 30% → 18%  ·  illustrative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4048" y="6455664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4048" y="6528816"/>
            <a:ext cx="4206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 spc="60">
                <a:solidFill>
                  <a:srgbClr val="93A0B8"/>
                </a:solidFill>
                <a:latin typeface="Inter"/>
                <a:ea typeface="Inter"/>
                <a:cs typeface="Inter"/>
              </a:rPr>
              <a:t>GAMMA  &amp;  THE GREEKS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28816"/>
            <a:ext cx="35661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Educational briefing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6528816"/>
            <a:ext cx="3383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13   /  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75" cy="689457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90">
                <a:solidFill>
                  <a:srgbClr val="E4B15A"/>
                </a:solidFill>
                <a:latin typeface="Inter"/>
                <a:ea typeface="Inter"/>
                <a:cs typeface="Inter"/>
              </a:rPr>
              <a:t>13     PRACTICAL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47548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How to buy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1384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Cash account. The contract has to match the speed of the move and the IV.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" y="1316736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1463040"/>
            <a:ext cx="11420856" cy="896112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640080" cy="8961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554480"/>
            <a:ext cx="987552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Single long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83664"/>
            <a:ext cx="1014984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0.40–0.60 delta, for a fast move or cheap IV.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450592"/>
            <a:ext cx="11420856" cy="896112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50592"/>
            <a:ext cx="640080" cy="8961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542032"/>
            <a:ext cx="987552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Debit spreads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871216"/>
            <a:ext cx="1014984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For a slow move or rich IV. You sell the expensive wing.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438144"/>
            <a:ext cx="11420856" cy="896112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38144"/>
            <a:ext cx="640080" cy="8961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529584"/>
            <a:ext cx="987552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Quiet stretches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858768"/>
            <a:ext cx="1014984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Do not hold short-dated options when nothing is happening.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425696"/>
            <a:ext cx="11420856" cy="896112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25696"/>
            <a:ext cx="640080" cy="8961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517136"/>
            <a:ext cx="987552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Check IV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846320"/>
            <a:ext cx="1014984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Know what you are paying. Crush can give the gain back.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5413248"/>
            <a:ext cx="11420856" cy="896112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13248"/>
            <a:ext cx="640080" cy="89611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504688"/>
            <a:ext cx="987552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Cash account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833872"/>
            <a:ext cx="1014984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No margin. The most you lose is the debit you paid.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84048" y="6455664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84048" y="6528816"/>
            <a:ext cx="4206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 spc="60">
                <a:solidFill>
                  <a:srgbClr val="93A0B8"/>
                </a:solidFill>
                <a:latin typeface="Inter"/>
                <a:ea typeface="Inter"/>
                <a:cs typeface="Inter"/>
              </a:rPr>
              <a:t>GAMMA  &amp;  THE GREEKS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6528816"/>
            <a:ext cx="35661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Educational briefing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6528816"/>
            <a:ext cx="3383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14   /  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75" cy="689457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90">
                <a:solidFill>
                  <a:srgbClr val="E4B15A"/>
                </a:solidFill>
                <a:latin typeface="Inter"/>
                <a:ea typeface="Inter"/>
                <a:cs typeface="Inter"/>
              </a:rPr>
              <a:t>14    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47548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Context, not a trigger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1384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Use the map. Do not let the map take the trade.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" y="1316736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1463040"/>
            <a:ext cx="11420856" cy="1261872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63040"/>
            <a:ext cx="731520" cy="126187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09344"/>
            <a:ext cx="9692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Estimates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48256"/>
            <a:ext cx="9875520" cy="53035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Gamma numbers are a model. They shift through the day as price, time, and IV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834640"/>
            <a:ext cx="11420856" cy="1261872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834640"/>
            <a:ext cx="731520" cy="126187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980944"/>
            <a:ext cx="9692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Next to the tape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19856"/>
            <a:ext cx="9875520" cy="53035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Read them with moving averages and price action. They map positioning, not a signal.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4206240"/>
            <a:ext cx="11420856" cy="1261872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206240"/>
            <a:ext cx="731520" cy="126187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52544"/>
            <a:ext cx="9692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Never alone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91455"/>
            <a:ext cx="9875520" cy="53035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If the level and the tape disagree, trust the tape. Do not trade gamma by itself.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5596128"/>
            <a:ext cx="11420856" cy="713232"/>
          </a:xfrm>
          <a:prstGeom prst="roundRect">
            <a:avLst>
              <a:gd name="adj" fmla="val 8000"/>
            </a:avLst>
          </a:prstGeom>
          <a:solidFill>
            <a:srgbClr val="1C2742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596128"/>
            <a:ext cx="10881360" cy="7132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The example book is not SPY. These levels are one close, and they move.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55664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4048" y="6528816"/>
            <a:ext cx="4206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 spc="60">
                <a:solidFill>
                  <a:srgbClr val="93A0B8"/>
                </a:solidFill>
                <a:latin typeface="Inter"/>
                <a:ea typeface="Inter"/>
                <a:cs typeface="Inter"/>
              </a:rPr>
              <a:t>GAMMA  &amp;  THE GREEKS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6528816"/>
            <a:ext cx="35661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Educational briefing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6528816"/>
            <a:ext cx="3383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15   /  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75" cy="689457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E4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 spc="90">
                <a:solidFill>
                  <a:srgbClr val="E4B15A"/>
                </a:solidFill>
                <a:latin typeface="Inter"/>
                <a:ea typeface="Inter"/>
                <a:cs typeface="Inter"/>
              </a:rPr>
              <a:t>15    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47548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The whole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1384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B7C3D6"/>
                </a:solidFill>
                <a:latin typeface="Inter"/>
                <a:ea typeface="Inter"/>
                <a:cs typeface="Inter"/>
              </a:rPr>
              <a:t>One page. Price on the left, the contract on the right.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" y="1316736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1463040"/>
            <a:ext cx="5628132" cy="3685032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572768"/>
            <a:ext cx="5262372" cy="29260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 spc="60">
                <a:solidFill>
                  <a:srgbClr val="3DDC97"/>
                </a:solidFill>
                <a:latin typeface="Inter"/>
                <a:ea typeface="Inter"/>
                <a:cs typeface="Inter"/>
              </a:rPr>
              <a:t>THE TAPE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" y="1938528"/>
            <a:ext cx="522579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029968"/>
            <a:ext cx="420624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29968"/>
            <a:ext cx="4823460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Dealers hedge sold options by trading shares.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37460"/>
            <a:ext cx="420624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37460"/>
            <a:ext cx="4823460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Above the flip: buy dips, sell rips, pin.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44952"/>
            <a:ext cx="420624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44952"/>
            <a:ext cx="4823460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Below the flip: sell drops, buy rips, trend.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52444"/>
            <a:ext cx="420624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52444"/>
            <a:ext cx="4823460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Call wall resists or pins. A break can squeeze.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59936"/>
            <a:ext cx="420624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59936"/>
            <a:ext cx="4823460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Put wall is support. A break speeds selling.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67428"/>
            <a:ext cx="420624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67428"/>
            <a:ext cx="4823460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Fade above. Go with it below. Stops past the walls.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6772" y="1463040"/>
            <a:ext cx="5628132" cy="3685032"/>
          </a:xfrm>
          <a:prstGeom prst="roundRect">
            <a:avLst>
              <a:gd name="adj" fmla="val 8000"/>
            </a:avLst>
          </a:prstGeom>
          <a:solidFill>
            <a:srgbClr val="141B30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7940" y="1572768"/>
            <a:ext cx="5262372" cy="292608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 spc="60">
                <a:solidFill>
                  <a:srgbClr val="6EC8FF"/>
                </a:solidFill>
                <a:latin typeface="Inter"/>
                <a:ea typeface="Inter"/>
                <a:cs typeface="Inter"/>
              </a:rPr>
              <a:t>THE CONTRACT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77940" y="1938528"/>
            <a:ext cx="522579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41364" y="2029968"/>
            <a:ext cx="420624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8564" y="2029968"/>
            <a:ext cx="4823460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Delta: the move per $1, and rough ITM odds.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1364" y="2537460"/>
            <a:ext cx="420624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8564" y="2537460"/>
            <a:ext cx="4823460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Gamma peaks at the money, near expiration.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1364" y="3044952"/>
            <a:ext cx="420624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8564" y="3044952"/>
            <a:ext cx="4823460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Theta speeds up in the last 2–3 weeks.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1364" y="3552444"/>
            <a:ext cx="420624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8564" y="3552444"/>
            <a:ext cx="4823460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Vega is IV risk. Crush can take premium back.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1364" y="4059936"/>
            <a:ext cx="420624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8564" y="4059936"/>
            <a:ext cx="4823460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0.40–0.60 singles if fast or cheap IV.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1364" y="4567428"/>
            <a:ext cx="420624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98564" y="4567428"/>
            <a:ext cx="4823460" cy="50749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Spreads if slow or rich. Check IV. Cash only.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4048" y="5257800"/>
            <a:ext cx="11420856" cy="1051560"/>
          </a:xfrm>
          <a:prstGeom prst="roundRect">
            <a:avLst>
              <a:gd name="adj" fmla="val 8000"/>
            </a:avLst>
          </a:prstGeom>
          <a:solidFill>
            <a:srgbClr val="1C2742"/>
          </a:solidFill>
          <a:ln w="12700">
            <a:solidFill>
              <a:srgbClr val="2C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5349240"/>
            <a:ext cx="11064240" cy="42062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F3F6FB"/>
                </a:solidFill>
                <a:latin typeface="Inter"/>
                <a:ea typeface="Inter"/>
                <a:cs typeface="Inter"/>
              </a:rPr>
              <a:t>Intraday, levels matter. Expiration week, price pins. The week after, ranges expand. Over a month, the regime sets size.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751576"/>
            <a:ext cx="11064240" cy="420624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E4B15A"/>
                </a:solidFill>
                <a:latin typeface="Inter"/>
                <a:ea typeface="Inter"/>
                <a:cs typeface="Inter"/>
              </a:rPr>
              <a:t>Gamma is an estimate and it moves all day. Use it with moving averages and price action — never alone.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84048" y="6455664"/>
            <a:ext cx="11420856" cy="0"/>
          </a:xfrm>
          <a:prstGeom prst="line">
            <a:avLst/>
          </a:prstGeom>
          <a:ln w="12700">
            <a:solidFill>
              <a:srgbClr val="2C3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84048" y="6528816"/>
            <a:ext cx="4206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 spc="60">
                <a:solidFill>
                  <a:srgbClr val="93A0B8"/>
                </a:solidFill>
                <a:latin typeface="Inter"/>
                <a:ea typeface="Inter"/>
                <a:cs typeface="Inter"/>
              </a:rPr>
              <a:t>GAMMA  &amp;  THE GREEKS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528816"/>
            <a:ext cx="35661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Educational briefing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6528816"/>
            <a:ext cx="3383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US">
                <a:solidFill>
                  <a:srgbClr val="93A0B8"/>
                </a:solidFill>
                <a:latin typeface="Inter"/>
                <a:ea typeface="Inter"/>
                <a:cs typeface="Inter"/>
              </a:rPr>
              <a:t>16   / 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Gamma &amp; the Greeks</dc:title>
  <dc:subject>Educational briefing for Dominic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Education</cp:category>
</cp:coreProperties>
</file>