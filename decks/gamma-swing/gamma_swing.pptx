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16x9"/>
  <p:notesSz cx="6858000" cy="9144000"/>
  <p:embeddedFontLst>
    <p:embeddedFont>
      <p:font typeface="Liberation Sans" pitchFamily="34" charset="0"/>
      <p:regular r:id="rId71"/>
      <p:bold r:id="rId7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font" Target="fonts/font1.fntdata"/><Relationship Id="rId72" Type="http://schemas.openxmlformats.org/officeDocument/2006/relationships/font" Target="fonts/font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Cash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554480"/>
            <a:ext cx="6766560" cy="841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58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359152"/>
            <a:ext cx="6858000" cy="6035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Swing Trading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072384"/>
            <a:ext cx="1874519" cy="2926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246120"/>
            <a:ext cx="6537960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 hedging, the walls, and the candle close.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calls, long puts, and debit spreads.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Swings, earnings, and an occasional 0DTE.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72000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and 15m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4841" y="4572000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4841" y="4572000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 / 50 / 200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6763" y="4572000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6763" y="4572000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Unusual Whales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8686" y="4572000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8686" y="4572000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TradingView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881" y="5047488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3881" y="5047488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Swings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95803" y="5047488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5803" y="5047488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Earnings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57725" y="5047488"/>
            <a:ext cx="1552194" cy="365760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7725" y="5047488"/>
            <a:ext cx="1552194" cy="365760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Occasional 0DTE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96128"/>
            <a:ext cx="65379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October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8" y="658368"/>
            <a:ext cx="4261104" cy="2528315"/>
          </a:xfrm>
          <a:prstGeom prst="rect">
            <a:avLst/>
          </a:prstGeom>
          <a:solidFill>
            <a:srgbClr val="14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8" y="804672"/>
            <a:ext cx="4261104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8" y="1097280"/>
            <a:ext cx="3712464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 rallies. Buy dips.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750808" y="1618488"/>
            <a:ext cx="310896" cy="384048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10122408" y="1618488"/>
            <a:ext cx="310896" cy="384048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048256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2048256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0688" y="2747771"/>
            <a:ext cx="3712464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ranges and pins.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3186683"/>
            <a:ext cx="4261104" cy="475488"/>
          </a:xfrm>
          <a:prstGeom prst="rect">
            <a:avLst/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8" y="3186683"/>
            <a:ext cx="4261104" cy="475488"/>
          </a:xfrm>
          <a:prstGeom prst="rect">
            <a:avLst/>
          </a:prstGeom>
          <a:noFill/>
        </p:spPr>
        <p:txBody>
          <a:bodyPr wrap="square" lIns="109728" rIns="109728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Flip: Behavior Changes Here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6368" y="3662171"/>
            <a:ext cx="4261104" cy="2528315"/>
          </a:xfrm>
          <a:prstGeom prst="rect">
            <a:avLst/>
          </a:prstGeom>
          <a:solidFill>
            <a:srgbClr val="3A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6368" y="3808475"/>
            <a:ext cx="4261104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90688" y="4101083"/>
            <a:ext cx="3712464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 rallies. Sell dips.</a:t>
            </a:r>
          </a:p>
        </p:txBody>
      </p:sp>
      <p:sp>
        <p:nvSpPr>
          <p:cNvPr id="37" name="Up Arrow 36"/>
          <p:cNvSpPr/>
          <p:nvPr/>
        </p:nvSpPr>
        <p:spPr>
          <a:xfrm>
            <a:off x="8750808" y="4622291"/>
            <a:ext cx="310896" cy="384048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10122408" y="4622291"/>
            <a:ext cx="310896" cy="384048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76488" y="5052059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088" y="5052059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0688" y="5751575"/>
            <a:ext cx="3712464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trends and accelerates.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658368"/>
            <a:ext cx="4261104" cy="5532120"/>
          </a:xfrm>
          <a:prstGeom prst="rect">
            <a:avLst/>
          </a:prstGeom>
          <a:noFill/>
          <a:ln w="15875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It as a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876805"/>
            <a:ext cx="3294888" cy="17053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way to read the regime,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mark the levels, and pick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contract.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trigger is a candle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5864" y="1078992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7032" y="1207007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This Is Not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32" y="1876805"/>
            <a:ext cx="3294888" cy="17053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win rate. No backtest.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fixed dollar risk.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choose the dollars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every trade.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1078992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8" y="1207007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Stays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1876805"/>
            <a:ext cx="3294888" cy="17053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only. No margin.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naked short options.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calls, long puts,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debit spreads.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4426965"/>
            <a:ext cx="1823313" cy="2189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0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4655057"/>
            <a:ext cx="1823313" cy="2631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481681" y="4535424"/>
            <a:ext cx="219456" cy="219456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19425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19425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7441" y="4426965"/>
            <a:ext cx="1823313" cy="2189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0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47441" y="4655057"/>
            <a:ext cx="1823313" cy="2631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7059" y="4535424"/>
            <a:ext cx="219456" cy="219456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54803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54803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2819" y="4426965"/>
            <a:ext cx="1823313" cy="2189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0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2819" y="4655057"/>
            <a:ext cx="1823313" cy="2631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152436" y="4535424"/>
            <a:ext cx="219456" cy="219456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90180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0180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18196" y="4426965"/>
            <a:ext cx="1823313" cy="2189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0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8196" y="4655057"/>
            <a:ext cx="1823313" cy="2631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9487814" y="4535424"/>
            <a:ext cx="219456" cy="219456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25558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25558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53574" y="4426965"/>
            <a:ext cx="1823313" cy="2189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07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53574" y="4655057"/>
            <a:ext cx="1823313" cy="2631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Your Dollars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5358384"/>
            <a:ext cx="11420856" cy="8961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5358384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" y="5486400"/>
            <a:ext cx="11055096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Numbers that are not the October 16, 2026 SPY book are marked EXAMPLE.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Charts are Black-Scholes. The inputs are printed on the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Tools This Deck Assumes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60704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2" y="1060704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TradingView. The 4h and the 15m.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953768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953768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953768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Averages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2" y="1953768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20, the 50, and the 200, on both.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846832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846832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846832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2" y="2846832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Unusual Whales. Open interest for the swing.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739896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739896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739896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2" y="3739896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second public gamma source, before a swing.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4632960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4632960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632960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632960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Swings, earnings, and an occasional 0DTE.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5526024"/>
            <a:ext cx="7406640" cy="801623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5526024"/>
            <a:ext cx="1554480" cy="801623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526024"/>
            <a:ext cx="1554480" cy="801623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4832" y="5526024"/>
            <a:ext cx="5559552" cy="801623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Cash. You pay the debit. No naked shorts.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1060704"/>
            <a:ext cx="3849624" cy="52669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55279" y="1060704"/>
            <a:ext cx="38496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59" y="12618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Allowed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1627631"/>
            <a:ext cx="3483864" cy="1691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Long call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Long put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debit spread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debit spread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11311" y="3694176"/>
            <a:ext cx="3337560" cy="13716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59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Not This Account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4187952"/>
            <a:ext cx="3483864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 call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 put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Margin</a:t>
            </a:r>
          </a:p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Short stock as a hedge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Shows Where the Hedge Pushes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686560"/>
            <a:ext cx="2352294" cy="2336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65960"/>
            <a:ext cx="2352294" cy="498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Customers trade</a:t>
            </a:r>
          </a:p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28950" y="1920240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155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155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9574" y="1686560"/>
            <a:ext cx="2352294" cy="2336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4" y="1965960"/>
            <a:ext cx="2352294" cy="498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take</a:t>
            </a:r>
          </a:p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other side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6459" y="1920240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906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906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7083" y="1686560"/>
            <a:ext cx="2352294" cy="2336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7083" y="1965960"/>
            <a:ext cx="2352294" cy="498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</a:t>
            </a:r>
          </a:p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with the stock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903969" y="1920240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657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9657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4594" y="1686560"/>
            <a:ext cx="2352294" cy="2336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4594" y="1965960"/>
            <a:ext cx="2352294" cy="498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says how</a:t>
            </a:r>
          </a:p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hard that pushes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163824"/>
            <a:ext cx="11420856" cy="960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3163824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3273552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hedge. Gamma shows where that hedging pushes price.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315968"/>
            <a:ext cx="73152" cy="1417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16" y="4727956"/>
            <a:ext cx="3331464" cy="629920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push is pressure from the hedge. It is not a promise.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5864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45864" y="4315968"/>
            <a:ext cx="73152" cy="1417320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7032" y="4727956"/>
            <a:ext cx="3331464" cy="629920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still need the price action, and a candle close.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07680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07680" y="4315968"/>
            <a:ext cx="73152" cy="141732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8848" y="4727956"/>
            <a:ext cx="3331464" cy="629920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Direction comes from the break, or from the rejection.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Dealers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Three Lines on Dealers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1536192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"Dealers hold large options positions from institutional and retail trading"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" y="2084832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Their book is the other side of that flow. You read the net book, not one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798063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798063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96265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3255263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"Dealers use the underlying stock to hedge their options positions"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3" y="3803904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buy or sell shares against the option. That hedge is in the stock you chart.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517136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4517136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681727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3" y="4974336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"Delta tells them how many shares they need to stay neutral"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5522975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 is the share count. When delta changes, the count is wrong, so they trade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 Is Their Share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903720" cy="3703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69037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61872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contract stands for 100 shares.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Exposure is delta times those 100 shares.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10312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210312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10312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0.20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64992" y="228600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210312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20 Shares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88036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288036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88036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0.50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364992" y="306324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288036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50 Shares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65760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11880" y="365760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65760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0.80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364992" y="384048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365760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80 Shares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2360" y="1078992"/>
            <a:ext cx="4352544" cy="3703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1078992"/>
            <a:ext cx="435254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1280160"/>
            <a:ext cx="3986784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Are Not the Dealer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2051430"/>
            <a:ext cx="3986784" cy="2243074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2482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hedge with stock.</a:t>
            </a:r>
          </a:p>
          <a:p>
            <a:pPr algn="ctr">
              <a:lnSpc>
                <a:spcPts val="2482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short shares.</a:t>
            </a:r>
          </a:p>
          <a:p>
            <a:pPr algn="ctr">
              <a:lnSpc>
                <a:spcPts val="2482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482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read their hedge so you know the push.</a:t>
            </a:r>
          </a:p>
          <a:p>
            <a:pPr algn="ctr">
              <a:lnSpc>
                <a:spcPts val="2482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Then you buy a call, a put, or a debit spread.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937760"/>
            <a:ext cx="11420856" cy="129844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93776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5074920"/>
            <a:ext cx="10981944" cy="10241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long put with delta -0.50 acts like short 50 shares. You still only own the put.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did not borrow stock. The sign is direction. The number is size. Later you will ignore the sign on purpose.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Is How Fast Delta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07008"/>
            <a:ext cx="10981944" cy="8046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re-hedge when delta changes. Gamma sets how much, and how often.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304288"/>
            <a:ext cx="5623560" cy="2697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304288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432304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Gamma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2871216"/>
            <a:ext cx="5221224" cy="1984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6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small move changes delta a lot.</a:t>
            </a:r>
          </a:p>
          <a:p>
            <a:pPr algn="l">
              <a:lnSpc>
                <a:spcPts val="306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share hedge is rebuilt in size.</a:t>
            </a:r>
          </a:p>
          <a:p>
            <a:pPr algn="l">
              <a:lnSpc>
                <a:spcPts val="306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are back in the stock often.</a:t>
            </a:r>
          </a:p>
          <a:p>
            <a:pPr algn="l">
              <a:lnSpc>
                <a:spcPts val="306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06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strike, near expiry.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2304288"/>
            <a:ext cx="5623560" cy="2697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2304288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432304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Low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871216"/>
            <a:ext cx="5221224" cy="1984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5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same move barely changes delta.</a:t>
            </a:r>
          </a:p>
          <a:p>
            <a:pPr algn="l">
              <a:lnSpc>
                <a:spcPts val="255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is a small update.</a:t>
            </a:r>
          </a:p>
          <a:p>
            <a:pPr algn="l">
              <a:lnSpc>
                <a:spcPts val="255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can sit.</a:t>
            </a:r>
          </a:p>
          <a:p>
            <a:pPr algn="l">
              <a:lnSpc>
                <a:spcPts val="255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55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far from the strike, or far from expiry.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166360"/>
            <a:ext cx="11420856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Calls and puts have the same gamma. The sign of the book is a separate question.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next slide is the shape, from the model. The one after that is the share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Black-Scholes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Peaks at the Strike, Near Expiry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pic>
        <p:nvPicPr>
          <p:cNvPr id="10" name="Picture 9" descr="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58061"/>
            <a:ext cx="6903720" cy="47967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52360" y="1042415"/>
            <a:ext cx="4352544" cy="11247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042415"/>
            <a:ext cx="73152" cy="112471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456435"/>
            <a:ext cx="4041648" cy="333247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peak is at the money. Here, strike 100.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276856"/>
            <a:ext cx="4352544" cy="11247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2276856"/>
            <a:ext cx="73152" cy="112471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2542540"/>
            <a:ext cx="4041648" cy="62992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1-day gamma at the peak is about 5.5 times the 30-day peak.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3511296"/>
            <a:ext cx="4352544" cy="11247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3511296"/>
            <a:ext cx="73152" cy="112471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3776980"/>
            <a:ext cx="4041648" cy="62992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7-day gamma at the peak is about 2.1 times the 30-day peak.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4745736"/>
            <a:ext cx="4352544" cy="11247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4745736"/>
            <a:ext cx="73152" cy="112471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5011420"/>
            <a:ext cx="4041648" cy="62992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Far from the strike the line is flat. Little re-hedging.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5961888"/>
            <a:ext cx="11420856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Scaled so the 30-day peak is 1.</a:t>
            </a:r>
          </a:p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Black-Scholes, European, no dividend. Spot 100, IV 20%, rate 4%. Not a forecast.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Re-Hedge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Point of Price, Three Hedges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pic>
        <p:nvPicPr>
          <p:cNvPr id="10" name="Picture 9" descr="h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62206"/>
            <a:ext cx="5628132" cy="478845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6772" y="1042415"/>
            <a:ext cx="5628132" cy="2350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6772" y="1042415"/>
            <a:ext cx="5628132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7940" y="1170431"/>
            <a:ext cx="522579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Bars 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7940" y="1609344"/>
            <a:ext cx="5225796" cy="16367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 The dealer is short one ATM call. Strike 100.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goes from 100 to 101.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bars are the shares they must buy to get back to neutral.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32.7, 13.9, and 6.8 shares.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6772" y="3520440"/>
            <a:ext cx="5628132" cy="2350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6772" y="3520440"/>
            <a:ext cx="5628132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7940" y="4250436"/>
            <a:ext cx="5225796" cy="926591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 the book. If the dealer is long that call, the same sizes are shares they sell. Same gamma. Opposite trade.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5961888"/>
            <a:ext cx="11420856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Black-Scholes, European, no dividend. IV 20%, rate 4%. Share counts match the bars. Not a forecast.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Two Ways the Hedge Can Push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5628132" cy="4224528"/>
          </a:xfrm>
          <a:prstGeom prst="rect">
            <a:avLst/>
          </a:prstGeom>
          <a:solidFill>
            <a:srgbClr val="14352F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207007"/>
            <a:ext cx="5628132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50491"/>
            <a:ext cx="5116068" cy="704088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Above the flip.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sell rallies and buy dips.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237994" y="2615184"/>
            <a:ext cx="384048" cy="475488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3518154" y="2615184"/>
            <a:ext cx="384048" cy="475488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0834" y="34747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5274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11320"/>
            <a:ext cx="5116068" cy="62992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ranges, and it can pin.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Pin means price sticks near a heavy strike.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6772" y="1060704"/>
            <a:ext cx="5628132" cy="4224528"/>
          </a:xfrm>
          <a:prstGeom prst="rect">
            <a:avLst/>
          </a:prstGeom>
          <a:solidFill>
            <a:srgbClr val="3A2226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6772" y="1207007"/>
            <a:ext cx="5628132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2804" y="1650491"/>
            <a:ext cx="5116068" cy="704088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Below the flip.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chase the move.</a:t>
            </a:r>
          </a:p>
        </p:txBody>
      </p:sp>
      <p:sp>
        <p:nvSpPr>
          <p:cNvPr id="21" name="Up Arrow 20"/>
          <p:cNvSpPr/>
          <p:nvPr/>
        </p:nvSpPr>
        <p:spPr>
          <a:xfrm>
            <a:off x="8030718" y="2615184"/>
            <a:ext cx="384048" cy="475488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9310878" y="2615184"/>
            <a:ext cx="384048" cy="475488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3558" y="34747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7998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2804" y="4211320"/>
            <a:ext cx="5116068" cy="62992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can trend, and it can accelerate.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Fades get run over.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431536"/>
            <a:ext cx="11420856" cy="84124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5431536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5703824"/>
            <a:ext cx="11018520" cy="333247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deck reads dealer gamma. Above the flip is positive. Below the flip is negative.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They Sell the Rally and Buy the Dip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36092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207007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07007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2157984"/>
            <a:ext cx="58064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1288" y="5221224"/>
            <a:ext cx="580644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179222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536752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599992" y="2322576"/>
            <a:ext cx="384048" cy="475488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02912" y="2341625"/>
            <a:ext cx="288036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Rally into the call wall.</a:t>
            </a:r>
          </a:p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sell stock.</a:t>
            </a:r>
          </a:p>
        </p:txBody>
      </p:sp>
      <p:sp>
        <p:nvSpPr>
          <p:cNvPr id="19" name="Up Arrow 18"/>
          <p:cNvSpPr/>
          <p:nvPr/>
        </p:nvSpPr>
        <p:spPr>
          <a:xfrm>
            <a:off x="3599992" y="4507992"/>
            <a:ext cx="384048" cy="475488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02912" y="4527042"/>
            <a:ext cx="288036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Dip into the put wall.</a:t>
            </a:r>
          </a:p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buy stock.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411474"/>
            <a:ext cx="196596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stays</a:t>
            </a:r>
          </a:p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in the range.</a:t>
            </a:r>
          </a:p>
        </p:txBody>
      </p:sp>
      <p:sp>
        <p:nvSpPr>
          <p:cNvPr id="22" name="Oval 21"/>
          <p:cNvSpPr/>
          <p:nvPr/>
        </p:nvSpPr>
        <p:spPr>
          <a:xfrm>
            <a:off x="3310128" y="3186684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57600" y="3525012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10128" y="3854196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4192524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09560" y="1060704"/>
            <a:ext cx="389534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09560" y="1060704"/>
            <a:ext cx="389534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1188719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2523744"/>
            <a:ext cx="3493008" cy="2706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edges.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Only after a rejection candle closes back inside.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trade the breakout.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 is a later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They Chase, So the Move Can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36092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207007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07007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2295144"/>
            <a:ext cx="58064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1288" y="5221224"/>
            <a:ext cx="580644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19476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53126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Up Arrow 16"/>
          <p:cNvSpPr/>
          <p:nvPr/>
        </p:nvSpPr>
        <p:spPr>
          <a:xfrm>
            <a:off x="3367735" y="1444751"/>
            <a:ext cx="384048" cy="475488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8087" y="1427226"/>
            <a:ext cx="301752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Rally. Dealers buy.</a:t>
            </a:r>
          </a:p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rally gets fuel.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367735" y="5422392"/>
            <a:ext cx="384048" cy="475488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8087" y="5478018"/>
            <a:ext cx="301752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Drop. Dealers sell.</a:t>
            </a:r>
          </a:p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drop gets fuel.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461512"/>
            <a:ext cx="2194560" cy="629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break can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run.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1060704"/>
            <a:ext cx="389534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1060704"/>
            <a:ext cx="389534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0728" y="1188719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0728" y="2690622"/>
            <a:ext cx="3493008" cy="23728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the first touch.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Trade the break on a 4h close.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it.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 is a later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Same Calls, Opposite Hedge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024128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10 contracts. Deltas are chosen so the share count is obvious. This is one call book, not every 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572768"/>
            <a:ext cx="5628132" cy="4617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1572768"/>
            <a:ext cx="5628132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719072"/>
            <a:ext cx="5628132" cy="640080"/>
          </a:xfrm>
          <a:prstGeom prst="rect">
            <a:avLst/>
          </a:prstGeom>
          <a:noFill/>
        </p:spPr>
        <p:txBody>
          <a:bodyPr wrap="square" lIns="182880" rIns="18288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Book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Dealer Is Long the 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9504"/>
            <a:ext cx="5116068" cy="2706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Start. Delta +0.50.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short 500 shares.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Later. Delta +0.60.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short 600 shares.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sell 100 shares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rally.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6772" y="1572768"/>
            <a:ext cx="5628132" cy="4617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6772" y="1572768"/>
            <a:ext cx="5628132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6772" y="1719072"/>
            <a:ext cx="5628132" cy="640080"/>
          </a:xfrm>
          <a:prstGeom prst="rect">
            <a:avLst/>
          </a:prstGeom>
          <a:noFill/>
        </p:spPr>
        <p:txBody>
          <a:bodyPr wrap="square" lIns="182880" rIns="18288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Book</a:t>
            </a:r>
          </a:p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Dealer Is Short the Calls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2804" y="2889504"/>
            <a:ext cx="5116068" cy="2706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Start. Delta -0.50.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long 500 shares.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Later. Delta -0.60.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long 600 shares.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buy 100 shares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Flip Is a Change in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672084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170431"/>
            <a:ext cx="672084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1517904"/>
            <a:ext cx="4160520" cy="1965960"/>
          </a:xfrm>
          <a:prstGeom prst="rect">
            <a:avLst/>
          </a:prstGeom>
          <a:solidFill>
            <a:srgbClr val="14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2204212"/>
            <a:ext cx="3520439" cy="629920"/>
          </a:xfrm>
          <a:prstGeom prst="rect">
            <a:avLst/>
          </a:prstGeom>
          <a:noFill/>
        </p:spPr>
        <p:txBody>
          <a:bodyPr wrap="square" lIns="109728" rIns="73152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Above the flip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gamma. Fade.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453128" y="1950415"/>
            <a:ext cx="329184" cy="365760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4453128" y="2658160"/>
            <a:ext cx="329184" cy="365760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30168"/>
            <a:ext cx="6208775" cy="7315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39896"/>
            <a:ext cx="6208775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Flip: Net Gamma Changes 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4087368"/>
            <a:ext cx="4160520" cy="1965960"/>
          </a:xfrm>
          <a:prstGeom prst="rect">
            <a:avLst/>
          </a:prstGeom>
          <a:solidFill>
            <a:srgbClr val="3A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773676"/>
            <a:ext cx="3520439" cy="629920"/>
          </a:xfrm>
          <a:prstGeom prst="rect">
            <a:avLst/>
          </a:prstGeom>
          <a:noFill/>
        </p:spPr>
        <p:txBody>
          <a:bodyPr wrap="square" lIns="109728" rIns="73152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Below the flip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gamma. Chase.</a:t>
            </a:r>
          </a:p>
        </p:txBody>
      </p:sp>
      <p:sp>
        <p:nvSpPr>
          <p:cNvPr id="20" name="Up Arrow 19"/>
          <p:cNvSpPr/>
          <p:nvPr/>
        </p:nvSpPr>
        <p:spPr>
          <a:xfrm>
            <a:off x="4453128" y="4519879"/>
            <a:ext cx="329184" cy="365760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4453128" y="5227624"/>
            <a:ext cx="329184" cy="365760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060704"/>
            <a:ext cx="4535424" cy="253288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060704"/>
            <a:ext cx="45354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0648" y="1188719"/>
            <a:ext cx="41330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a Level to Lean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1627632"/>
            <a:ext cx="4133088" cy="181965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80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marks a change in behavior.</a:t>
            </a:r>
          </a:p>
          <a:p>
            <a:pPr algn="ctr">
              <a:lnSpc>
                <a:spcPts val="280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80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 and resistance are the walls.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79" y="3739896"/>
            <a:ext cx="4535424" cy="253288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79" y="3739896"/>
            <a:ext cx="453542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0648" y="3867911"/>
            <a:ext cx="41330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It Can Sit on a Wall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4306824"/>
            <a:ext cx="4133088" cy="181965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can fall between two strikes.</a:t>
            </a:r>
          </a:p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sits on a wall, that edge is the regime line and the level,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 the Flip, the Hedge Goes Quiet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10917936" cy="1920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There is near-zero hedging on the flip itself.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often consolidates there, until it picks a side.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tight chop on the line is not a signal. It is the wait.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3611880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739896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 the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4727448"/>
            <a:ext cx="3294888" cy="704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Little stock to buy or sell for the gamma hedge. Price often sits.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45864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5864" y="3611880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7032" y="3739896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Accepts Above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7032" y="4560570"/>
            <a:ext cx="3294888" cy="10378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holds above the flip. Expect fade behavior. Read it as positive.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7680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7680" y="3611880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8848" y="3739896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Accepts Below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8848" y="4560570"/>
            <a:ext cx="3294888" cy="10378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holds below the flip. Expect chase behavior. Read it as negative.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Wick Is Not a New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5628132" cy="4023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188719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188719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911449"/>
            <a:ext cx="2251252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600553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74077" y="1700784"/>
            <a:ext cx="21945" cy="260604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7034" y="3392424"/>
            <a:ext cx="256032" cy="27431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98114" y="2586228"/>
            <a:ext cx="2588940" cy="926591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Wick through.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 back on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old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553712"/>
            <a:ext cx="52623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Still the Old Regime.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6772" y="1060704"/>
            <a:ext cx="5628132" cy="4023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23076" y="1188719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3076" y="1188719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1092" y="2911449"/>
            <a:ext cx="2251252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5956" y="2600553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66801" y="1563624"/>
            <a:ext cx="21945" cy="2560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49758" y="2112263"/>
            <a:ext cx="256032" cy="274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0838" y="2586228"/>
            <a:ext cx="2588940" cy="926591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through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 It still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has to 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9652" y="4553712"/>
            <a:ext cx="52623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Possible New Side.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5230368"/>
            <a:ext cx="11420856" cy="10241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" y="5230368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3" y="5445760"/>
            <a:ext cx="10981944" cy="629920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the 4h close, or the daily close. Do not change the plan on a touch.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later candles hold on the new side, treat the regime as changed and read the book again.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Walls Are Support and Resistance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81228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225296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25296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7320" y="1554480"/>
            <a:ext cx="18288" cy="4160520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1783080"/>
            <a:ext cx="3017520" cy="25603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44168" y="1719072"/>
            <a:ext cx="146304" cy="146304"/>
          </a:xfrm>
          <a:prstGeom prst="ellipse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163677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115    Call Wall    Resistance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34439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19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0199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79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6596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4884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3172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9748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6324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4612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1188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4760" y="288036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77640" y="2880360"/>
            <a:ext cx="91439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44168" y="2816352"/>
            <a:ext cx="146304" cy="146304"/>
          </a:xfrm>
          <a:prstGeom prst="ellipse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60520" y="273405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108    Flip    Behavior, Not a Wall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" y="3977639"/>
            <a:ext cx="3017520" cy="25603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44168" y="3913631"/>
            <a:ext cx="146304" cy="146304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3831335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100    Spot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5074920"/>
            <a:ext cx="3017520" cy="25603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344168" y="5010912"/>
            <a:ext cx="146304" cy="146304"/>
          </a:xfrm>
          <a:prstGeom prst="ellipse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60520" y="492861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90    Put Wall    Support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1078992"/>
            <a:ext cx="444398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60920" y="1078992"/>
            <a:ext cx="4443984" cy="5029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2088" y="1207007"/>
            <a:ext cx="404164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How to Use Them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8" y="1645920"/>
            <a:ext cx="4041648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wall: the heavy call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strike above. Resistance.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wall: the heavy put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strike below. Support.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are the swing map.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decides if you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them, or if you trade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through them.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is drawn here so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confuse it</a:t>
            </a:r>
          </a:p>
          <a:p>
            <a:pPr algn="l">
              <a:lnSpc>
                <a:spcPts val="227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wall.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Regime Picks Fade or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 at a 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leans back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range.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tag is not the trade.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rejection candle that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inside is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fade.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buy the breakout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while spot is still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above the flip.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 at a Wall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can turn into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chase once price goes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through.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touch is not the trade.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4h close outside the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range is the trade.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it.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the wall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only because it is a wall.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Walls Move. Big Expiries Reset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801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Wall Is This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7451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Earlier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31720"/>
            <a:ext cx="23774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214884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468880" y="2880360"/>
            <a:ext cx="329184" cy="420624"/>
          </a:xfrm>
          <a:prstGeom prst="downArrow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Open Interest Shifts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66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Later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69080"/>
            <a:ext cx="23774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54680" y="38862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New Call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901184"/>
            <a:ext cx="5029200" cy="704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them again.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Yesterday's line can be dead.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1645920"/>
            <a:ext cx="5221224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 is what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builds the wall.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that expiry passes,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those contracts are gone.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monthly expiry is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big reset.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SPY also expires through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week. After a large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one, rebuild the map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before you trust the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old levels.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Textbook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Charm and Vanna, in One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30815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change in delta as time</a:t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passes, with price and IV</a:t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held still.</a:t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Also called delta decay.</a:t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hedge can drift on a flat</a:t>
            </a:r>
          </a:p>
          <a:p>
            <a:pPr algn="l">
              <a:lnSpc>
                <a:spcPts val="299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day because the clock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Vanna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30815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change in delta when IV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changes, with price held still.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also the change in vega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price changes.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hedge can shift on a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volatility move, even if the</a:t>
            </a:r>
          </a:p>
          <a:p>
            <a:pPr algn="l">
              <a:lnSpc>
                <a:spcPts val="2664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stock has 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047488"/>
            <a:ext cx="11420856" cy="11704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5047488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5212080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Textbook definitions. This deck does not trade charm or vanna.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trade gamma, the walls, and the close. These two only explain a hedge that moves on a quiet tape.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Unusual Whales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Four Rules on Your Gamma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25295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5448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Heatmap Colors Are Net Gamma.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put gamma. Not call gamma by itself. The combined number.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1225295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155448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By-Strike Draws Two Lines.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08483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wall, and spot. It does not draw the put wall. It does not draw the flip.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22783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22783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374136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70332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Find the Put Wall.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3367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the longest purple bar below spot.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1344" y="322783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22783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3374136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Find the Flip.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423367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where the heatmap color changes. Not a printed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5440680"/>
            <a:ext cx="114208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Open interest is the swing. Directionalized Volume is the day. The next drawings are schematics.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They are marked ILLUSTRATIVE. They are not screenshots, and the heatmap colors are stand-ins.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Color Is Net Gamma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2412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2412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042415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Stand-in colors. Not the Unusual Whales palette.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+2d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+7d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2776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+14d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+2mo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1783080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800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34440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0552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30552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26664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6664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22776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22776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18888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8888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2258568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4440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0552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30552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26664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22776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2776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18888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8888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2734056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40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34440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30552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30552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6664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22776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2776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18888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18888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15000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0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" y="3209544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34440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34440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30552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30552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6664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26664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22776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22776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18888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0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15000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440" y="3721607"/>
            <a:ext cx="5321808" cy="36576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3813047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 = Where the Color Changes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4048" y="4142231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34440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4440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30552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130552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26664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26664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22776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22776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18888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818888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15000" y="4142231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15000" y="4142231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4617719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234440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34440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130552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130552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26664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26664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922776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22776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18888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18888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15000" y="461771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715000" y="461771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" y="5093207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740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234440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34440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130552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130552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026664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026664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922776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22776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18888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18888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15000" y="509320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715000" y="509320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4048" y="5568695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34440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34440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130552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30552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026664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026664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922776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922776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818888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818888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715000" y="556869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15000" y="556869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18120" y="1444752"/>
            <a:ext cx="3977639" cy="4617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818120" y="1444752"/>
            <a:ext cx="3977639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01000" y="1627632"/>
            <a:ext cx="361188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It This Way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01000" y="2624327"/>
            <a:ext cx="3611880" cy="2706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Plus cells: positive net gamma.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Minus cells: negative net gamma.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sign is the lesson. The shade is not live data.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the real page, match the color to the legend. Do not memorize a hue.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By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Chart Does Not Draw Every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2412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2412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371600"/>
            <a:ext cx="5623560" cy="4800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447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1481328"/>
            <a:ext cx="966978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9019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1938528"/>
            <a:ext cx="1557909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591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395728"/>
            <a:ext cx="343814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8163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2852928"/>
            <a:ext cx="2256282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32735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3310128"/>
            <a:ext cx="128930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7307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3767328"/>
            <a:ext cx="1074420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41879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224528"/>
            <a:ext cx="4297680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46451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681728"/>
            <a:ext cx="1933956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51023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138928"/>
            <a:ext cx="290093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55595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745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596128"/>
            <a:ext cx="805815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000" y="4123944"/>
            <a:ext cx="4297680" cy="20116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3849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0722" y="2980944"/>
            <a:ext cx="1949957" cy="25603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9010" y="270662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1078992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1078992"/>
            <a:ext cx="73152" cy="1152144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37376" y="115214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Drawn for You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1463039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Spot, and the call wall. Those two lines are on the chart.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2340863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2340863"/>
            <a:ext cx="73152" cy="1152144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2414015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Mark the Put Wall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2724911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Longest purple bar below spot. Here that is 760. It is not drawn as a line.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3602735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9632" y="3602735"/>
            <a:ext cx="73152" cy="1152144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37376" y="36758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Ignore the Trap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3986783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long bar at 780 is above spot. Longest bar on the wrong side is not the put wall.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9632" y="4864607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9632" y="4864607"/>
            <a:ext cx="73152" cy="1152144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37376" y="493775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Flip Is Not Here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7376" y="5248655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look for it on this chart. The color change is on the heatmap.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Two Clocks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 Is the Swing. Volume Is the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326440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that are still open.</a:t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book already on.</a:t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builds the walls and</a:t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</a:t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for swing levels</a:t>
            </a:r>
          </a:p>
          <a:p>
            <a:pPr algn="l">
              <a:lnSpc>
                <a:spcPts val="2823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for the regime.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Directionalized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326440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What traded in the session,</a:t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direction on the flow.</a:t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intraday view.</a:t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does not set the swing</a:t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wall, and it does not set</a:t>
            </a:r>
          </a:p>
          <a:p>
            <a:pPr algn="l">
              <a:lnSpc>
                <a:spcPts val="317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monthly regime.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230368"/>
            <a:ext cx="11420856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5230368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5376672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Do not swap them. A midday push on Directionalized Volume does not move your wall.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Check the Three Levels in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3949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3949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Write These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74519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7451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874519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240279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Support. From open interest.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6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08960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747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Resistance. From open interest.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343400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709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Where net gamma changes sign.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61888" y="1078992"/>
            <a:ext cx="5843016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78992"/>
            <a:ext cx="584301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5" y="1207007"/>
            <a:ext cx="544067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Second Source Disagrees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63055" y="1645920"/>
            <a:ext cx="5440679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want the same story,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the same pixel.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expiry?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interest, not today's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volume?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 gamma, or the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customer sign? Customer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gamma flips the colors.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still disagrees, you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still need a close. No trade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off a level you cannot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find twice.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Month Sets the Posture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Today's Open 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23500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Sets the playbook.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above the flip: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positive. You fade.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below the flip: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negative. You trade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break.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Past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23500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Sets the risk posture.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positive month is a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pinning environment.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negative month is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faster. Breaks can run.</a:t>
            </a:r>
          </a:p>
          <a:p>
            <a:pPr algn="l"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Stops need more room.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15968"/>
            <a:ext cx="11420856" cy="187451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315968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8"/>
            <a:ext cx="10917936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room changes how many contracts your dollars buy.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dollar amount is still yours, every trade.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deck never sets a percent, and it never sets a dollar risk.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today and the month disagree, trade today's book. Let the month change the room, not the playbook.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Where Each Clock Sits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360920" cy="122072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736092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225295"/>
            <a:ext cx="640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225295"/>
            <a:ext cx="6464808" cy="36576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751329"/>
            <a:ext cx="6464808" cy="333247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Risk posture. You pick the dollars.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91156"/>
            <a:ext cx="7360920" cy="122072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91156"/>
            <a:ext cx="736092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55574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555748"/>
            <a:ext cx="6464808" cy="36576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081782"/>
            <a:ext cx="6464808" cy="333247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Walls, the flip, and the playbook.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721608"/>
            <a:ext cx="7360920" cy="122072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721608"/>
            <a:ext cx="73609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886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886200"/>
            <a:ext cx="6464808" cy="36576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412234"/>
            <a:ext cx="6464808" cy="333247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range, and the trigger.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5052060"/>
            <a:ext cx="7360920" cy="122072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5052060"/>
            <a:ext cx="736092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521665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216652"/>
            <a:ext cx="6464808" cy="365760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742686"/>
            <a:ext cx="6464808" cy="333247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Entry timing. The 20, 50, and 200.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060704"/>
            <a:ext cx="389534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060704"/>
            <a:ext cx="389534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0728" y="1188719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Two Extras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2356866"/>
            <a:ext cx="3493008" cy="30403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daily close is the one to add when the level is a major wall, or the flip.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averages do not replace the walls. They confirm them.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15m does not overrule the 4h.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Price and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Trade the Range and the Walls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840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7276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They Line 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2148840"/>
            <a:ext cx="2331720" cy="2240280"/>
          </a:xfrm>
          <a:prstGeom prst="rect">
            <a:avLst/>
          </a:prstGeom>
          <a:solidFill>
            <a:srgbClr val="1A2836"/>
          </a:solidFill>
          <a:ln w="19050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167890"/>
            <a:ext cx="196596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= Box 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813810"/>
            <a:ext cx="196596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= Box Bottom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078992"/>
            <a:ext cx="5623560" cy="3840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157276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They Do Not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194560"/>
            <a:ext cx="19659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2697480"/>
            <a:ext cx="1600200" cy="1097280"/>
          </a:xfrm>
          <a:prstGeom prst="rect">
            <a:avLst/>
          </a:prstGeom>
          <a:solidFill>
            <a:srgbClr val="1A2836"/>
          </a:solidFill>
          <a:ln w="19050">
            <a:solidFill>
              <a:srgbClr val="E6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4251960"/>
            <a:ext cx="196596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2078355"/>
            <a:ext cx="2926080" cy="31470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Walls Outside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967990"/>
            <a:ext cx="292608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4h Box Is</a:t>
            </a:r>
          </a:p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Only the Middle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074920"/>
            <a:ext cx="11420856" cy="11430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5074920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230368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works best when they line up. Then the playbook levels and the chart levels are the same prices.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they are not, you have two stories. Do not average them into a new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Price and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Maps Disagree, Wait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25295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Box Inside the Walls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170078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edges of the box are price action only. Do not call them walls. The walls are still outside.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77063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770632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916936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Through a Wall, No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" y="339242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has poked a wall and the 4h has not closed out. Wait for that close. A wick is not a side.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46227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462272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4608576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 Inside the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508406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wall is the level. The rest of the box is range. Do not split the difference and invent a third price.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SPY Book from That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2745486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2745486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28016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737360"/>
            <a:ext cx="252603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26080"/>
            <a:ext cx="2452878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Support. Bottom of the box.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5838" y="1060704"/>
            <a:ext cx="2745486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75838" y="1060704"/>
            <a:ext cx="2745486" cy="5029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5566" y="128016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5566" y="1737360"/>
            <a:ext cx="252603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2926080"/>
            <a:ext cx="2452878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Resistance. Top of the box.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7628" y="1060704"/>
            <a:ext cx="2745486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7628" y="1060704"/>
            <a:ext cx="274548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7356" y="128016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7356" y="1737360"/>
            <a:ext cx="252603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774.5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3932" y="2926080"/>
            <a:ext cx="2452878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Behavior change. On the ceiling.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60704"/>
            <a:ext cx="2745486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9418" y="1060704"/>
            <a:ext cx="2745486" cy="50292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9146" y="1280160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9146" y="1737360"/>
            <a:ext cx="252603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3776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763.2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5722" y="2926080"/>
            <a:ext cx="2452878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Under the flip. Inside the walls.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480560"/>
            <a:ext cx="11420856" cy="960120"/>
          </a:xfrm>
          <a:prstGeom prst="rect">
            <a:avLst/>
          </a:prstGeom>
          <a:solidFill>
            <a:srgbClr val="3A2226"/>
          </a:solidFill>
          <a:ln w="15875">
            <a:solidFill>
              <a:srgbClr val="FF7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4590288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Regime: negative gamma. Spot is under the flip. Most of 760 to 775 is under it too.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5596128"/>
            <a:ext cx="11420856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These are the open-interest levels from the October 16, 2026 SPY close, as used for this example.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775 minus 760 is 15 points. On spot about 763, that box is about 2% wide.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4h Range Was the Walls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178040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65960" y="1554480"/>
            <a:ext cx="18288" cy="4251959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0280" y="2617470"/>
            <a:ext cx="3246120" cy="2277835"/>
          </a:xfrm>
          <a:prstGeom prst="rect">
            <a:avLst/>
          </a:prstGeom>
          <a:solidFill>
            <a:srgbClr val="24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80" y="3459715"/>
            <a:ext cx="3246120" cy="62992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4h Range</a:t>
            </a:r>
          </a:p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760 to 775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617470"/>
            <a:ext cx="3977639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7088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02536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7984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13432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7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2432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7977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3522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9067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1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0156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5701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1246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6791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2335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7880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3425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970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4515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0059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5604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149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6694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2239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7783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640" y="4895305"/>
            <a:ext cx="3977639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6472" y="4327071"/>
            <a:ext cx="164592" cy="164592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0" y="2471165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775 Call Wall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547093"/>
            <a:ext cx="1143000" cy="292608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4263063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763.2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4749001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760 Put Wall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26679" y="1060704"/>
            <a:ext cx="407822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26679" y="1060704"/>
            <a:ext cx="4078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12070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Top of the Box, Opened Up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01000" y="2296160"/>
            <a:ext cx="210312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0100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4730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3991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86216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3252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7882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02512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7143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17736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6404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1034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75664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90295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049256" y="2567093"/>
            <a:ext cx="54863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95560" y="214985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95560" y="242078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774.5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60" y="2944368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Half a point apart. Linear scale.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26679" y="3547872"/>
            <a:ext cx="4078224" cy="263347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726679" y="3547872"/>
            <a:ext cx="4078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27848" y="3675887"/>
            <a:ext cx="3675887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Picture Says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927848" y="4114800"/>
            <a:ext cx="3675887" cy="19202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box and the walls</a:t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are the same prices.</a:t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is glued to</a:t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wall.</a:t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Almost the whole box</a:t>
            </a:r>
          </a:p>
          <a:p>
            <a:pPr algn="l">
              <a:lnSpc>
                <a:spcPts val="1853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negative gamma.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 with That 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97280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25295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 Through 760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44852"/>
            <a:ext cx="3294888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Still under the flip.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Negative gamma stands.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the downside.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side.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5864" y="1097280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7032" y="1225295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Poke, Then Back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32" y="2244852"/>
            <a:ext cx="3294888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inside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box.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Failed break.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trade. Old 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1097280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8" y="1225295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Holds Above 775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244852"/>
            <a:ext cx="3294888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crossed the flip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the call wall.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Regime likely changed.</a:t>
            </a:r>
          </a:p>
          <a:p>
            <a:pPr algn="l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Re-read before you 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526280"/>
            <a:ext cx="11420856" cy="16642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52628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4681728"/>
            <a:ext cx="10981944" cy="13533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760 to 775 you wait. The regime in the box is negative, so you do not fade either wall.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upside is not a normal break. The flip is about 774.5, so a hold above 775 is a new book.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it on the old plan, and do not chase it on the old plan.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Gamma: Fade the 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36092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736092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170432"/>
            <a:ext cx="7360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The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25657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 Spot is above the flip. The regime is positive.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82719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 Price tags the call wall, or the put wall.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9781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 A rejection candle closes back inside the range.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96843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 Enter on that close. Not on the tag.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53904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 Stop is beyond that candle's high, or its 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10966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 You exit if a later candle closes past that extreme.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8028"/>
            <a:ext cx="7040880" cy="314705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 Do not trade the breakout while this regime holds.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1060704"/>
            <a:ext cx="3895344" cy="25420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1060704"/>
            <a:ext cx="389534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8" y="1188719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Which 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2023110"/>
            <a:ext cx="3493008" cy="10378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call wall with a put.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put wall with a call.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3730752"/>
            <a:ext cx="3895344" cy="25420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9560" y="3730752"/>
            <a:ext cx="389534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0728" y="3858768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It Holds Outside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4297680"/>
            <a:ext cx="3493008" cy="1828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outside is not your entry here.</a:t>
            </a:r>
          </a:p>
          <a:p>
            <a:pPr algn="ctr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352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that close holds, the regime likely changed. Rebuild. Do not chase it on this plan.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Rejection Has to Look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498079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16167" y="1188719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6167" y="1188719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1929384"/>
            <a:ext cx="47091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5495544"/>
            <a:ext cx="470916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61848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1663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6682" y="1545336"/>
            <a:ext cx="21945" cy="1481327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08783" y="2313432"/>
            <a:ext cx="237744" cy="32918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3415" y="1453895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Stop Beyond This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9135" y="2268727"/>
            <a:ext cx="2286000" cy="5557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Enter on This</a:t>
            </a:r>
          </a:p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Close, Inside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16682" y="4261104"/>
            <a:ext cx="21945" cy="1563624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8783" y="4782312"/>
            <a:ext cx="237744" cy="329184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39135" y="4595876"/>
            <a:ext cx="2286000" cy="5557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Enter on This</a:t>
            </a:r>
          </a:p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Close, Inside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3415" y="587959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Stop Beyond This 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19" y="1060704"/>
            <a:ext cx="375818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060704"/>
            <a:ext cx="375818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188719"/>
            <a:ext cx="335584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Close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2023110"/>
            <a:ext cx="3355848" cy="37078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wick can leave the range.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body has to finish back inside.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outside is not a fade.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stop sits beyond the rejection extreme. A wick through the stop is not the exit. A later close through it is.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Gamma: Trade the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36092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736092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170432"/>
            <a:ext cx="7360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25657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 Spot is below the flip. The regime is negative.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82719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 Inside the range, you do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39781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 A 4h candle closes outside, through the wall.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96843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 Go with that close.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53904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 Down break: put side. Up break: call side if still under the flip.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10966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 You exit if a later 4h close comes back inside.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8028"/>
            <a:ext cx="7040880" cy="314705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 Do not fade the first touch.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1060704"/>
            <a:ext cx="3895344" cy="25420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1060704"/>
            <a:ext cx="389534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0728" y="1188719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Which 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8" y="1689354"/>
            <a:ext cx="3493008" cy="17053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Break up: long call, or a call debit spread.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Break down: long put, or a put debit spread.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09560" y="3730752"/>
            <a:ext cx="3895344" cy="25420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09560" y="3730752"/>
            <a:ext cx="389534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0728" y="3858768"/>
            <a:ext cx="34930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Break Is the Flip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4297680"/>
            <a:ext cx="3493008" cy="1828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normal negative break stays under the flip.</a:t>
            </a:r>
          </a:p>
          <a:p>
            <a:pPr algn="ctr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close also crosses the flip, a hold means the regime likely changed. Re-read before the next trade.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Break Has to Look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498079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16167" y="1188719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6167" y="1188719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203704"/>
            <a:ext cx="47091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8" y="5221224"/>
            <a:ext cx="470916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89280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943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16682" y="1426464"/>
            <a:ext cx="21945" cy="155448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08783" y="1636776"/>
            <a:ext cx="237744" cy="310895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3415" y="1532636"/>
            <a:ext cx="2377440" cy="5557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Through. Enter.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16682" y="4443984"/>
            <a:ext cx="21945" cy="1417319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8783" y="5422392"/>
            <a:ext cx="237744" cy="274319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93415" y="5373116"/>
            <a:ext cx="2377440" cy="5557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Through. Enter.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434334"/>
            <a:ext cx="2103120" cy="5928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Inside the Range:</a:t>
            </a:r>
          </a:p>
          <a:p>
            <a:pPr algn="ctr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No Trade.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9" y="1060704"/>
            <a:ext cx="375818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1060704"/>
            <a:ext cx="375818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8" y="1188719"/>
            <a:ext cx="335584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Failed Break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023110"/>
            <a:ext cx="3355848" cy="37078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wrong if a later 4h candle closes back inside the range.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is the stop.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back inside is not the exit. The close is.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Hard loss is still the debit, if the option goes to zero.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Poke Is Not a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57276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06040"/>
            <a:ext cx="493776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Range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37867" y="1965960"/>
            <a:ext cx="21945" cy="18288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880360"/>
            <a:ext cx="182880" cy="27432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5147" y="2788920"/>
            <a:ext cx="21945" cy="118871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79" y="3063240"/>
            <a:ext cx="182880" cy="4572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292608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Pushes out.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Next bar stays 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Old Plan Stands. No Chase.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45936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57276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Holds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3063240"/>
            <a:ext cx="493776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267" y="1783080"/>
            <a:ext cx="21945" cy="173736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43800" y="2057400"/>
            <a:ext cx="182880" cy="3657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58707" y="1691640"/>
            <a:ext cx="21945" cy="118871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78240" y="1965960"/>
            <a:ext cx="182880" cy="3657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1160" y="324612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out.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next close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stays out.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 Likely Changed.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212080"/>
            <a:ext cx="11420856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21208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" y="5340096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close starts the idea. A hold is what changes the regime. If a later close snaps back inside, it did not hold.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It Holds, Change the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280160"/>
            <a:ext cx="2468880" cy="36576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700784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 Outside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4h or daily candle finishes outside the old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64408" y="1280160"/>
            <a:ext cx="2468880" cy="36576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700784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It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later candle is still closed outside. It did not come back 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1280160"/>
            <a:ext cx="2468880" cy="36576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1700784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It Changed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likely changed. Stop using the old fade or the old break.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512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512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25128" y="1280160"/>
            <a:ext cx="2468880" cy="36576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5" y="1700784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the 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New walls. New flip. New side of spot. Then the new playbook.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187952"/>
            <a:ext cx="11420856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187952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4370832"/>
            <a:ext cx="10981944" cy="1645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Already negative, and the break does not cross the flip: the first 4h close outside is the entry. That is the negative playbook.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Was positive, or the close crosses the flip: the first close outside is a warning, not a chase. Wait to see if it holds, then re-read.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closes back inside, it was not a change. You are on the old plan.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Alerts Fire on the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5628132" cy="400507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188719"/>
            <a:ext cx="5628132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Touch. No Alert.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2983138"/>
            <a:ext cx="258894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24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74077" y="2205898"/>
            <a:ext cx="21945" cy="18288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66178" y="3303178"/>
            <a:ext cx="237744" cy="32004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8114" y="2773680"/>
            <a:ext cx="2588940" cy="926591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wick tags the level.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back.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6772" y="1060704"/>
            <a:ext cx="5628132" cy="400507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6772" y="1188719"/>
            <a:ext cx="5628132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Close. Alert.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6812" y="2983138"/>
            <a:ext cx="258894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2532" y="267224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66801" y="1931578"/>
            <a:ext cx="21945" cy="182879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58902" y="2205898"/>
            <a:ext cx="237744" cy="338328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0838" y="2773680"/>
            <a:ext cx="2588940" cy="926591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finishes through the level.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Then you check the 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5212080"/>
            <a:ext cx="11420856" cy="1042415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4048" y="521208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5436616"/>
            <a:ext cx="10981944" cy="629920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or daily. Those are the swing closes. Never an intraday touch.</a:t>
            </a:r>
          </a:p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TradingView, fire the alert on the bar close. A crossing alert can fire mid-candle. That is a touch.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Watch Alert, Then an Entry Alert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1142085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170432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170432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5728" y="118872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A Level at 100. Not the SPY Book.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148840"/>
            <a:ext cx="1010412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1892808"/>
            <a:ext cx="1051560" cy="512064"/>
          </a:xfrm>
          <a:prstGeom prst="rect">
            <a:avLst/>
          </a:prstGeom>
          <a:solidFill>
            <a:srgbClr val="332C16"/>
          </a:solidFill>
          <a:ln w="14604">
            <a:solidFill>
              <a:srgbClr val="E6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865376" y="2048256"/>
            <a:ext cx="201168" cy="201168"/>
          </a:xfrm>
          <a:prstGeom prst="ellipse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663697"/>
            <a:ext cx="2103120" cy="296163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You Are Here</a:t>
            </a:r>
          </a:p>
        </p:txBody>
      </p:sp>
      <p:sp>
        <p:nvSpPr>
          <p:cNvPr id="18" name="Oval 17"/>
          <p:cNvSpPr/>
          <p:nvPr/>
        </p:nvSpPr>
        <p:spPr>
          <a:xfrm>
            <a:off x="4974336" y="2048256"/>
            <a:ext cx="201168" cy="201168"/>
          </a:xfrm>
          <a:prstGeom prst="ellipse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2533904"/>
            <a:ext cx="2103120" cy="55575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Watch Alert</a:t>
            </a:r>
          </a:p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1% to 2% Before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19" y="2663697"/>
            <a:ext cx="2103120" cy="296163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Band</a:t>
            </a:r>
          </a:p>
        </p:txBody>
      </p:sp>
      <p:sp>
        <p:nvSpPr>
          <p:cNvPr id="21" name="Oval 20"/>
          <p:cNvSpPr/>
          <p:nvPr/>
        </p:nvSpPr>
        <p:spPr>
          <a:xfrm>
            <a:off x="10003536" y="2048256"/>
            <a:ext cx="201168" cy="201168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533904"/>
            <a:ext cx="2103120" cy="55575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Entry Alert</a:t>
            </a:r>
          </a:p>
          <a:p>
            <a:pPr algn="ctr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On the Close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096512"/>
            <a:ext cx="5623560" cy="21214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409651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4224528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Watch Means 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4663440"/>
            <a:ext cx="5221224" cy="140817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buy it.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open the chart.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entry alert is the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or daily close,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the direction of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096512"/>
            <a:ext cx="5623560" cy="21214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409651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4224528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1-2% Is Distance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663440"/>
            <a:ext cx="5221224" cy="140817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distance on the chart,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a risk percent.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a wide book it sits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front of the wall.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October 16 box: 2%</a:t>
            </a:r>
          </a:p>
          <a:p>
            <a:pPr algn="l">
              <a:lnSpc>
                <a:spcPts val="1799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was the whole range.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Zone Is a Band. Stay Quiet Inside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24358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A Hairline Gets Wicked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331720"/>
            <a:ext cx="4023360" cy="18288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97987" y="1737360"/>
            <a:ext cx="21945" cy="150876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606040"/>
            <a:ext cx="182880" cy="27431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tick through the strike looks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like a break. The close decides.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24358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A Band Covers the Chop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1965960"/>
            <a:ext cx="2377440" cy="777240"/>
          </a:xfrm>
          <a:prstGeom prst="rect">
            <a:avLst/>
          </a:prstGeom>
          <a:solidFill>
            <a:srgbClr val="14352F"/>
          </a:solidFill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38667" y="2057400"/>
            <a:ext cx="21945" cy="5943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2194560"/>
            <a:ext cx="182880" cy="274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the band: no entry,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no stop-out on a wick.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297680"/>
            <a:ext cx="11420856" cy="187451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29768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4462272"/>
            <a:ext cx="10981944" cy="1554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watch alert is the tap on the shoulder, 1% to 2% before you reach the band.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band is where you stay quiet. Draw it wide enough to cover a wick around the strike.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you need a width, use the chop already on the 4h at that strike. Do not use a one-tick line.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October 16 the walls were about 2% apart, so a 2% watch of one wall sat near the other wall.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Close, Then the Other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Strong 4h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152704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finishes clearly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through the band. The body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on the break side.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can be the entry, if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other checks agree.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15m Break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152704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to time the entry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once the 4h idea is set.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15m break against the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plan is not a trade.</a:t>
            </a:r>
          </a:p>
          <a:p>
            <a:pPr algn="l">
              <a:lnSpc>
                <a:spcPts val="1955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4h decides the idea.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456432"/>
            <a:ext cx="11420856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Convergence. These Should Lean the Same Way.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385876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858768"/>
            <a:ext cx="2167128" cy="420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385876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97480" y="3858768"/>
            <a:ext cx="2167128" cy="420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20 / 50 / 200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10912" y="385876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858768"/>
            <a:ext cx="2167128" cy="420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Level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24344" y="385876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24344" y="3858768"/>
            <a:ext cx="2167128" cy="420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37776" y="3858768"/>
            <a:ext cx="2167128" cy="42062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3858768"/>
            <a:ext cx="2167128" cy="42062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480560"/>
            <a:ext cx="11420856" cy="1691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448056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4645152"/>
            <a:ext cx="10981944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Check all five. If one of them fights the trade, wait.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Quiet news is fine. News that fights the trade is not.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Missing flow is not a yes. If you have no read, say so.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pretend a blank is a yes.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Averages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20, the 50, and the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690372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188719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188719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36192"/>
            <a:ext cx="6537959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Not a Real Ticker. Three Averages, and One Wall.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2478024"/>
            <a:ext cx="6080759" cy="23774"/>
          </a:xfrm>
          <a:prstGeom prst="rect">
            <a:avLst/>
          </a:prstGeom>
          <a:solidFill>
            <a:srgbClr val="6E7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21671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" y="3666744"/>
            <a:ext cx="6080759" cy="23774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35584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" y="4855464"/>
            <a:ext cx="6080759" cy="23774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54456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  <p:sp>
        <p:nvSpPr>
          <p:cNvPr id="20" name="Oval 19"/>
          <p:cNvSpPr/>
          <p:nvPr/>
        </p:nvSpPr>
        <p:spPr>
          <a:xfrm>
            <a:off x="3697833" y="4764024"/>
            <a:ext cx="182880" cy="182880"/>
          </a:xfrm>
          <a:prstGeom prst="ellipse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90441" y="50200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Wall on the 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1060704"/>
            <a:ext cx="4352544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52360" y="1060704"/>
            <a:ext cx="435254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53528" y="1188719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Each One 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3528" y="1627631"/>
            <a:ext cx="3950208" cy="44988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200: the tide. On the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it is the larger swing.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50: the swing itself.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20: the short push.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three on the 15m,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for the entry only.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Best lineup: the wall and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average in the same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place, and the close agrees.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 average is not a wall.</a:t>
            </a:r>
          </a:p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wall is not an average.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 or Put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972818"/>
            <a:ext cx="5221224" cy="370789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Upside break.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fade of the put wall,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positive gamma.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call.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call debit spread.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long premium.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768856"/>
            <a:ext cx="5221224" cy="41158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Downside break.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fade of the call wall,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positive gamma.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put.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put debit spread.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never the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Single Contract, or a Debit Spread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3657600" cy="5212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36576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207008"/>
            <a:ext cx="3657600" cy="822960"/>
          </a:xfrm>
          <a:prstGeom prst="rect">
            <a:avLst/>
          </a:prstGeom>
          <a:noFill/>
        </p:spPr>
        <p:txBody>
          <a:bodyPr wrap="square" lIns="146304" rIns="146304" tIns="0" bIns="0"/>
          <a:lstStyle/>
          <a:p>
            <a:pPr algn="ctr">
              <a:lnSpc>
                <a:spcPts val="3068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Ask Three</a:t>
            </a:r>
          </a:p>
          <a:p>
            <a:pPr algn="ctr">
              <a:lnSpc>
                <a:spcPts val="3068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464308"/>
            <a:ext cx="3291840" cy="70408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fast is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move?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81044"/>
            <a:ext cx="3291840" cy="70408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IV cheap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rich?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097779"/>
            <a:ext cx="3291840" cy="70408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 you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 it?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96512" y="3383280"/>
            <a:ext cx="329184" cy="256032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0288" y="1060704"/>
            <a:ext cx="7214616" cy="24505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90288" y="1060704"/>
            <a:ext cx="721461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91455" y="1188719"/>
            <a:ext cx="681228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Single Long Call or 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5" y="1662176"/>
            <a:ext cx="6812280" cy="16682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 or large move. IV is cheap. You can manage the trade.</a:t>
            </a:r>
          </a:p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Risk is the premium. The working exit is a candle close.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3657600"/>
            <a:ext cx="7214616" cy="261518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90288" y="3657600"/>
            <a:ext cx="721461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91455" y="3785615"/>
            <a:ext cx="681228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Debit Spread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91455" y="4224528"/>
            <a:ext cx="6812280" cy="19019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Slower move. IV is rich. Or you cannot watch it.</a:t>
            </a:r>
          </a:p>
          <a:p>
            <a:pPr algn="l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pay a smaller debit. You cap the gain at the short strike.</a:t>
            </a:r>
          </a:p>
          <a:p>
            <a:pPr algn="l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short leg is covered by the long leg. Not a naked short.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the Single Contract 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515618"/>
            <a:ext cx="3154680" cy="3703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Fast or 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534160"/>
            <a:ext cx="7854696" cy="333247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need the option to keep paying if price runs past a wall.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0487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04872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41498"/>
            <a:ext cx="3154680" cy="3703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IV Is Cheap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860040"/>
            <a:ext cx="7854696" cy="333247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not paying a rich premium for a move that may be slow.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73075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73075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167378"/>
            <a:ext cx="3154680" cy="3703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You Can Manage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4185919"/>
            <a:ext cx="7854696" cy="333247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can take the candle-close exit. If you cannot watch, use the spread.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5074920"/>
            <a:ext cx="11420856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5074920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5212080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Hard risk is the premium. You cannot lose more than you paid.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candle-close stop hits first, the loss is whatever the option is worth then, up to that premium.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the Debit Spread 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04088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704088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26187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Same expiry. The short strike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is further out, and covered.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103120"/>
            <a:ext cx="2880360" cy="1051560"/>
          </a:xfrm>
          <a:prstGeom prst="rect">
            <a:avLst/>
          </a:prstGeom>
          <a:solidFill>
            <a:srgbClr val="14352F"/>
          </a:solidFill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12848"/>
            <a:ext cx="26974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 the nearer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strike. You are long.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703320" y="2450592"/>
            <a:ext cx="411480" cy="274320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103120"/>
            <a:ext cx="2880360" cy="1051560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212848"/>
            <a:ext cx="26974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 the further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strike. Covered.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6492240" cy="2468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spread: buy a call, sell a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further call.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spread: buy a put, sell a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further put.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Max loss is the debit.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Past the short strike, you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get paid more.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078992"/>
            <a:ext cx="421538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0" y="1078992"/>
            <a:ext cx="421538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1207007"/>
            <a:ext cx="381304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Use It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0688" y="1645920"/>
            <a:ext cx="3813048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move is slower.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is rich.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you cannot watch.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caution. These are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American options. The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short leg can be assigned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early. Know the broker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rule before you hold a</a:t>
            </a:r>
          </a:p>
          <a:p>
            <a:pPr algn="l">
              <a:lnSpc>
                <a:spcPts val="283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spread into expiry.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Payoff at Expiry, Single Versus Spread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48</a:t>
            </a:r>
          </a:p>
        </p:txBody>
      </p:sp>
      <p:pic>
        <p:nvPicPr>
          <p:cNvPr id="10" name="Picture 9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06239"/>
            <a:ext cx="6629400" cy="46272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78040" y="1097280"/>
            <a:ext cx="4626864" cy="41605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097280"/>
            <a:ext cx="462686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1225295"/>
            <a:ext cx="4224527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Example Debits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1664208"/>
            <a:ext cx="4224527" cy="344728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21 days. IV 25%.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100. Rate 4%.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dividend.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100 call: 2.51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100/105 spread: 1.74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Spread max gain: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3.26 per share.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326 dollars</a:t>
            </a:r>
          </a:p>
          <a:p>
            <a:pPr algn="l">
              <a:lnSpc>
                <a:spcPts val="2441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989320"/>
            <a:ext cx="11420856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 prices, then the expiry payoff of those debits. Per share. A contract is times 100. Not a forecast.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Rich IV Does to the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042415"/>
            <a:ext cx="114208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Same 21-day 100/105 call spread. Spot 100. Rate 4%. No dividend. Only IV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21128"/>
            <a:ext cx="2880360" cy="333247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ATM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481328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IV 18%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201168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011680"/>
            <a:ext cx="397763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30987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481328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IV 40%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01168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2011680"/>
            <a:ext cx="3977639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30987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701288"/>
            <a:ext cx="2880360" cy="333247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Spread Debit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29184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291840"/>
            <a:ext cx="397763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359003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1.52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89520" y="329184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0" y="3291840"/>
            <a:ext cx="3977639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59003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981448"/>
            <a:ext cx="2880360" cy="333247"/>
          </a:xfrm>
          <a:prstGeom prst="rect">
            <a:avLst/>
          </a:prstGeom>
          <a:noFill/>
        </p:spPr>
        <p:txBody>
          <a:bodyPr wrap="square" lIns="36576" rIns="54864" tIns="0" bIns="0"/>
          <a:lstStyle/>
          <a:p>
            <a:pPr algn="ctr">
              <a:lnSpc>
                <a:spcPts val="2336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Spread Max Gain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457200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29000" y="4572000"/>
            <a:ext cx="397763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487019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3.48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4572000"/>
            <a:ext cx="3977639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89520" y="4572000"/>
            <a:ext cx="3977639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4870196"/>
            <a:ext cx="3977639" cy="55575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4087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852160"/>
            <a:ext cx="11420856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single call more than doubles. The spread debit rises less. Rich IV is why the spread is the fit when the move is not a fast one you must keep open.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Place the Contract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777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01852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picture of the October 16 book. Not an order. You still check IV, and you still write your own dollars.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011680"/>
            <a:ext cx="5623560" cy="41148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011680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139696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Side, Through 760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2578608"/>
            <a:ext cx="5221224" cy="34015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Fast, IV cheap, you can watch: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put.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Slow, IV rich, or you cannot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watch: put debit spread.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strike near the money,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near the level that has to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work. Short strike further</a:t>
            </a:r>
          </a:p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out, at a target you can name.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2011680"/>
            <a:ext cx="5623560" cy="41148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2011680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139696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Side, Through 775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578608"/>
            <a:ext cx="5221224" cy="34015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close also crosses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 Re-read first.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new book is a long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idea: same fork.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if it is fast and you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 watch. Spread if IV is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rich or you cannot.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sell a strike the long</a:t>
            </a:r>
          </a:p>
          <a:p>
            <a:pPr algn="l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leg does not cover.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Delta, Mid Delta, Low Delta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51</a:t>
            </a:r>
          </a:p>
        </p:txBody>
      </p:sp>
      <p:pic>
        <p:nvPicPr>
          <p:cNvPr id="10" name="Picture 9" descr="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62656"/>
            <a:ext cx="6355080" cy="449611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03720" y="1060704"/>
            <a:ext cx="4901184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31736" y="1457198"/>
            <a:ext cx="4645152" cy="2484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   0.82    Strike 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1736" y="1733042"/>
            <a:ext cx="4645152" cy="4399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Costs more. Moves like the stock.</a:t>
            </a:r>
          </a:p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5.81 a share. About 82 shares of exposure.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2670048"/>
            <a:ext cx="4901184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1736" y="3066542"/>
            <a:ext cx="4645152" cy="2484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Mid    0.53    Strike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736" y="3342386"/>
            <a:ext cx="4645152" cy="4399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0.40 to 0.60. Reacts fast.</a:t>
            </a:r>
          </a:p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2.51 a share. About 53 shares of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4279392"/>
            <a:ext cx="4901184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4675886"/>
            <a:ext cx="4645152" cy="2484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Low    0.18    Strike 106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31736" y="4951730"/>
            <a:ext cx="4645152" cy="4399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Cheap. Needs a big move. Often expires worthless.</a:t>
            </a:r>
          </a:p>
          <a:p>
            <a:pPr algn="ctr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0.58 a share. About 18 shares of exposure.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114208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21 days, IV 25%, spot 100, rate 4%, no dividend. Exposure is delta times 100 shares, on a small move. You do not buy the shares.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Delta, Ignoring the 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2344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981944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 (ignoring the sign) is roughly the chance the option finishes in the money.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450592"/>
            <a:ext cx="5628132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450592"/>
            <a:ext cx="5628132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03372"/>
            <a:ext cx="5372100" cy="3220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Call Delta +0.45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507740"/>
            <a:ext cx="5372100" cy="5577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Ignore the plus.</a:t>
            </a:r>
          </a:p>
          <a:p>
            <a:pPr algn="ctr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Read it as about a 45 percent chance.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6772" y="2450592"/>
            <a:ext cx="5628132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6772" y="2450592"/>
            <a:ext cx="5628132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4788" y="3103372"/>
            <a:ext cx="5372100" cy="3220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Put Delta -0.45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4788" y="3507740"/>
            <a:ext cx="5372100" cy="5577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Ignore the minus.</a:t>
            </a:r>
          </a:p>
          <a:p>
            <a:pPr algn="ctr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read. About 45 percent.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4800600"/>
            <a:ext cx="11420856" cy="138988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480060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4956048"/>
            <a:ext cx="10981944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Rough guide. Closer on short-dated options.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the model, the chance of finishing in the money is a nearby number, not this one.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to plan. Do not treat it as exact.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Theta Is Decay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53</a:t>
            </a:r>
          </a:p>
        </p:txBody>
      </p:sp>
      <p:pic>
        <p:nvPicPr>
          <p:cNvPr id="10" name="Picture 9" descr="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14750"/>
            <a:ext cx="6812280" cy="464678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60920" y="1060704"/>
            <a:ext cx="4443983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0920" y="1060704"/>
            <a:ext cx="4443983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1188719"/>
            <a:ext cx="4041647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Curves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627632"/>
            <a:ext cx="4041647" cy="40416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held at 100.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25%. EXAMPLE.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call, 45 days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 1 day: 3.74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 0.53.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100/105 spread: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1.97 to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0.53.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single gives up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more dollars. The curve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steepens into expiry.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day left, the 105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is nearly worthless,</a:t>
            </a:r>
          </a:p>
          <a:p>
            <a:pPr algn="l">
              <a:lnSpc>
                <a:spcPts val="17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so the two meet.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053328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You pay theta every day you are long. Less decay is not a reason to hold a wrong idea.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IV Crush Is a Fast Drop in IV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54</a:t>
            </a:r>
          </a:p>
        </p:txBody>
      </p:sp>
      <p:pic>
        <p:nvPicPr>
          <p:cNvPr id="10" name="Picture 9" descr="cr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99915"/>
            <a:ext cx="6537960" cy="46764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1060704"/>
            <a:ext cx="4718304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1060704"/>
            <a:ext cx="471830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1188719"/>
            <a:ext cx="431596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Three Bars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1627632"/>
            <a:ext cx="4315968" cy="40416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14-day ATM call.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Start, IV 50%: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3.98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stays 100,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falls to 25%: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2.03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rises to 102,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falls to 25%: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3.23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stock rose.</a:t>
            </a:r>
          </a:p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still fell.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989320"/>
            <a:ext cx="11420856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Often after an event. The option can lose value even if the stock stays flat, or rises. Black-Scholes, rate 4%, no dividend.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Earnings, and the Rare 0DTE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Earnings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is commonly bid up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report, then it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drops. That drop is crush.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Check the actual IV.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assume it.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Rich IV, or you cannot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watch: debit spread.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Cheap IV, a fast move,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you can watch:</a:t>
            </a:r>
          </a:p>
          <a:p>
            <a:pPr algn="l">
              <a:lnSpc>
                <a:spcPts val="2619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contract.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43616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1-day spike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the gamma chart.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Theta is gone by the close.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Occasional, and only when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can manage that close.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playbook. Same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candle close. Same cash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debit. No naked short.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use the 0DTE</a:t>
            </a:r>
          </a:p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column as the swing map.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Stop Follows the Regime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 Fade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45920"/>
            <a:ext cx="5221224" cy="21671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stop sits beyond the</a:t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rejection high, or the low.</a:t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exit when a candle</a:t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through that price.</a:t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through it is not</a:t>
            </a:r>
          </a:p>
          <a:p>
            <a:pPr algn="l">
              <a:lnSpc>
                <a:spcPts val="239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exit.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207007"/>
            <a:ext cx="5221224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 Break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5221224" cy="21671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exit when a 4h candle</a:t>
            </a:r>
          </a:p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inside the range.</a:t>
            </a:r>
          </a:p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break failed.</a:t>
            </a:r>
          </a:p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back inside is not</a:t>
            </a:r>
          </a:p>
          <a:p>
            <a:pPr algn="l">
              <a:lnSpc>
                <a:spcPts val="2795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exit. The close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133087"/>
            <a:ext cx="11420856" cy="20299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133087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4297680"/>
            <a:ext cx="10981944" cy="17190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Both regimes: the hard ceiling on the loss is the debit you paid.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close is how you leave when the idea is wrong, before the option is worth zero.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move the stop farther once that close has already killed the idea.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Pick the stop before you enter. Write it down. Do not switch it after you are 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Choose the 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981944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Every trade, you write the dollars you are willing to lose.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deck will not give you a percent of the account. It will not give you a dollar amount.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651760"/>
            <a:ext cx="6903720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651760"/>
            <a:ext cx="69037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779776"/>
            <a:ext cx="69037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The Only Math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69359"/>
            <a:ext cx="6537959" cy="407416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292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Your dollars  /  (option price x 100)  =  contracts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651760"/>
            <a:ext cx="435254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2651760"/>
            <a:ext cx="435254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779776"/>
            <a:ext cx="395020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Example Arithmetic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18688"/>
            <a:ext cx="3950208" cy="161848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wrote 400.</a:t>
            </a:r>
          </a:p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Debit is 2.00.</a:t>
            </a:r>
          </a:p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2.00 x 100 = 200.</a:t>
            </a:r>
          </a:p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400 / 200 = 2 contracts.</a:t>
            </a:r>
          </a:p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Replace 400. It is not</a:t>
            </a:r>
          </a:p>
          <a:p>
            <a:pPr algn="l">
              <a:lnSpc>
                <a:spcPts val="2075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suggestion.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120640"/>
            <a:ext cx="11420856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At a stop before expiry the option may still have value. It may not, if the move was violent or time is gone.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 willing to lose the debit. In negative gamma the invalidation can sit back at the other side of the range.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Measure that room, then do the division. The same dollars buy fewer contracts when the debit is large.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Flow, Dark Pool, and the 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3697224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188719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Options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041398"/>
            <a:ext cx="3294888" cy="17053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Large prints at a wall carry more weight than prints in the middle.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Weight. Not the entry. The close is the entry.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1060704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5864" y="1060704"/>
            <a:ext cx="369722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7032" y="1188719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Dark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32" y="2208276"/>
            <a:ext cx="3294888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Large stock prints near a wall add weight to that wall.</a:t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rule. Weight, not a trigger.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1060704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1060704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8" y="1188719"/>
            <a:ext cx="3294888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9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a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8" y="2375153"/>
            <a:ext cx="3294888" cy="10378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62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print does not replace the 4h close, the regime, or the wall you already marked.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480560"/>
            <a:ext cx="11420856" cy="1691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480560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4617720"/>
            <a:ext cx="110185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Always the Dollar Premium. Price x contracts x 100.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010912"/>
            <a:ext cx="1101852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  2.00 x 500 x 100 = 100,000 dollars.    12.00 x 80 x 100 = 96,000 dollars.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Similar money. Very different if you only count contracts. Read the dollars.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Run That Book Through the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60704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060704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in this example. You still write your dollars. Do not skip the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773936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773936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773936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6816" y="1773936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wall 760. Call wall 775. Flip about 774.5. Spot about 763.2.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487168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487168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487168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6" y="2487168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Negative. Spot is under the flip. Do not fade the 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200400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0400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0400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6816" y="3200400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range was 760 to 775. It matched the walls.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3913632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913632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913632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3913632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Wait. Close through 760: go with the put. Hold above 775: re-read.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626864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626864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626864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56816" y="4626864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Fast and cheap IV and you can watch: single. Else a debit spread. Check IV. It is not given here.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340096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340096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340096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6816" y="5340096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4h close back inside. Hard risk is the debit. Flow is weight, in dollars, at the walls.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Before You 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152144"/>
            <a:ext cx="5340096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1752599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695958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Month noted. Your dollars are written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404872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348230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 marked. You know which side spot is 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057144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000502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Positive: fade only. Negative: break only.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06070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106070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1152144"/>
            <a:ext cx="5340096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2512" y="1752599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1695958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 and call wall, from open interest.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2512" y="2404872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348230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Cross-checked on a second public source.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82512" y="3057144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000502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range drawn. You know if it matches.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66674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" y="366674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3758183"/>
            <a:ext cx="5340096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Trigger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" y="4228185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178807"/>
            <a:ext cx="5029200" cy="281635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192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 is 1-2% out. Distance, not risk.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" y="461954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570171"/>
            <a:ext cx="5029200" cy="281635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192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Entry alert is a 4h or daily close.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" y="5010912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961534"/>
            <a:ext cx="5029200" cy="281635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192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zone is a band. You are not inside 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" y="5402275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352897"/>
            <a:ext cx="5029200" cy="281635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192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15m break, or a strong 4h close.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" y="579363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744260"/>
            <a:ext cx="5029200" cy="281635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192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Price, averages, level, news, flow agree.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366674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81344" y="366674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3758183"/>
            <a:ext cx="5340096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82512" y="4277106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1968" y="4220463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or spread: speed, IV, and attention.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82512" y="4766310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4709668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= your dollars / the debit.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82512" y="5255514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8" y="5198872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Stop is a candle close. You can say where.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82512" y="574471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01968" y="5688076"/>
            <a:ext cx="5029200" cy="296163"/>
          </a:xfrm>
          <a:prstGeom prst="rect">
            <a:avLst/>
          </a:prstGeom>
          <a:noFill/>
        </p:spPr>
        <p:txBody>
          <a:bodyPr wrap="square" lIns="36576" rIns="73152" tIns="0" bIns="0"/>
          <a:lstStyle/>
          <a:p>
            <a:pPr algn="l">
              <a:lnSpc>
                <a:spcPts val="204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debit only. No naked short.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Easy Ways to Get This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7899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07899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Treating the flip as support.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792224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792224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792224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1792224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Fading a wall while spot is under the flip.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505456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505456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505456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2505456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Buying a breakout while spot is over the flip.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218687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18687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18687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3218687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Entering on a touch, or on a wick.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3931920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931920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931920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3931920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Reading the heatmap as put gamma.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64515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64515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64515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64515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Looking for a put-wall line on the by-strike chart.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358383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358383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358383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358383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Looking for a flip line on the by-strike chart.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1344" y="107899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07899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107899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107899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Setting a swing level from Directionalized Volume.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1792224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81344" y="1792224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81344" y="1792224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1792224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Counting contracts and skipping the dollars.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1344" y="2505456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505456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81344" y="2505456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2505456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Chasing a poke that closed back inside.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81344" y="3218687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1344" y="3218687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1344" y="3218687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218687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Keeping the old plan after a close outside has held.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81344" y="3931920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81344" y="3931920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81344" y="3931920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3931920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Selling options naked, or using margin.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81344" y="464515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81344" y="464515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81344" y="464515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464515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Letting a 15m break overrule the 4h.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81344" y="5358383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81344" y="5358383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81344" y="5358383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5358383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Copying the dealer by shorting stock.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6070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106070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Share count for the dealer. For you, how the option tracks the stock.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170078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0078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8" y="170078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fast delta changes as the stock price moves.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340863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40863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2340863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Decay. The value time takes out of a long option.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98094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98094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Vega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2888" y="298094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much the option price changes when IV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62102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62102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362102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volatility implied by the option's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26110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426110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 Crush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26110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fast drop in IV, often after an event. The option can lose value anyway.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901183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4901183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2888" y="4901183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Delta's change as time passes. Price and IV held still. Textbook only.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554126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54126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Vanna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32888" y="554126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Delta's change as IV changes. Price held still. Textbook only.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Levels and the 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42415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07899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31673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Heavy call open interest above spot. Resistance.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042415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07899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Directionalized Volume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31673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Today's flow. The intraday view. Not the swing map.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77393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181051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048255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Heavy put open interest below spot. Support. Longest purple bar under spot.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181051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048255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sticking near a heavy strike while the hedges lean back 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50545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254203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2779775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Where net gamma changes sign. A behavior change. Not support.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50545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254203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2779775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Expiration. A large expiry resets the walls. Read the book again.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23697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27355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351129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Above the flip. Dealers fade the move. Price can range and pin.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23697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327355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Debit Spread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351129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one option, short a further strike, same expiry. Max loss is the debit.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396849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00507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" y="424281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Below the flip. Dealers chase. Price can trend and accelerate.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396849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0216" y="400507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Premium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424281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price you pay. The hard risk on a long call, long put, or debit spread.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470001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473659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497433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still open. The swing book. Walls and regime.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4700016"/>
            <a:ext cx="5632704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4736592"/>
            <a:ext cx="5376672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974336"/>
            <a:ext cx="5376672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Expires the same day. Extreme gamma. Extreme theta. Occasional only.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5431536"/>
            <a:ext cx="11420856" cy="6583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46811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Candle Close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84448" y="5431536"/>
            <a:ext cx="8037575" cy="658368"/>
          </a:xfrm>
          <a:prstGeom prst="rect">
            <a:avLst/>
          </a:prstGeom>
          <a:noFill/>
        </p:spPr>
        <p:txBody>
          <a:bodyPr wrap="square" l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bar has finished. The only alert that counts in this deck.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Whole Swing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42415"/>
            <a:ext cx="5628132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42415"/>
            <a:ext cx="5628132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152144"/>
            <a:ext cx="5628132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Do It in This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08455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Note the month. Write your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067687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Mark put wall, call wall, flip, spot.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526919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Cross-check the three levels.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986151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Draw the 4h range on the walls.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45383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Above the flip: fade a rejection close.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904615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Below the flip: trade the 4h break.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363847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Fast, cheap IV, you can watch: single.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4823079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8  Otherwise: a debit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282311"/>
            <a:ext cx="5335524" cy="314705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219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9  Stop on a candle close. Risk is the debit.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6772" y="1042415"/>
            <a:ext cx="5628132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6772" y="1042415"/>
            <a:ext cx="5628132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6772" y="1152144"/>
            <a:ext cx="5628132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Keep These Straight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6" y="1591056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Flip: behavior change. Not support.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3076" y="1965128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Walls: call resistance, put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3076" y="2339201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Heatmap color: net gamma.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2713274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wall: longest purple bar below spot.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3076" y="3087346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By-strike draws call wall and spot only.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3461419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interest: swing. Volume: today.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3076" y="3835492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Alert on the close. Never a touch.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3076" y="4209565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1-2% watch is distance, not risk.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3076" y="4583637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the band, stay quiet.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3076" y="4957710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15m times the entry. 4h decides.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3076" y="5331783"/>
            <a:ext cx="5335524" cy="282632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only. No naked short.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5925312"/>
            <a:ext cx="11420856" cy="4572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5925312"/>
            <a:ext cx="11420856" cy="45720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hedge. Gamma shows the push. You act on the close. You choose the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Gamma Swing Trading</dc:title>
  <dc:subject>Dealer gamma, walls, and candle-close swings</dc:subject>
  <dc:creator>Gamma Swing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