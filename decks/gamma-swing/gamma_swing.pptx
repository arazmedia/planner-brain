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0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2000" cy="6858000" type="screen16x9"/>
  <p:notesSz cx="6858000" cy="9144000"/>
  <p:embeddedFontLst>
    <p:embeddedFont>
      <p:font typeface="Liberation Sans" pitchFamily="34" charset="0"/>
      <p:regular r:id="rId71"/>
      <p:bold r:id="rId7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font" Target="fonts/font1.fntdata"/><Relationship Id="rId72" Type="http://schemas.openxmlformats.org/officeDocument/2006/relationships/font" Target="fonts/font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6583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FOR DOMINIC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207008"/>
            <a:ext cx="6766560" cy="841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58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2029968"/>
            <a:ext cx="6858000" cy="60350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swing trading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24912"/>
            <a:ext cx="1874519" cy="2926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889504"/>
            <a:ext cx="6537960" cy="1143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 hedging, the walls, and the candle close.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account. Long calls, long puts, debit spreads.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Swings, earnings, and an occasional 0DTE.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34840"/>
            <a:ext cx="1353312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353312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and 15m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4434840"/>
            <a:ext cx="1572768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65960" y="4434840"/>
            <a:ext cx="1572768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 / 50 / 200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48456" y="4434840"/>
            <a:ext cx="1719072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4434840"/>
            <a:ext cx="1719072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Unusual Whales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77256" y="443484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77256" y="4434840"/>
            <a:ext cx="1389888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TradingView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024128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92040"/>
            <a:ext cx="1024128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Swings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36776" y="489204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36776" y="4892040"/>
            <a:ext cx="1170432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Earnings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16936" y="489204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16936" y="4892040"/>
            <a:ext cx="1901952" cy="329184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Occasional 0DTE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532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October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8" y="777240"/>
            <a:ext cx="4261104" cy="2212848"/>
          </a:xfrm>
          <a:prstGeom prst="rect">
            <a:avLst/>
          </a:prstGeom>
          <a:solidFill>
            <a:srgbClr val="14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896112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11704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 rallies. Buy dips.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366760" y="1572768"/>
            <a:ext cx="292608" cy="365760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921240" y="1572768"/>
            <a:ext cx="292608" cy="365760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975104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1975104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233172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ranges and pins.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2990088"/>
            <a:ext cx="4261104" cy="457200"/>
          </a:xfrm>
          <a:prstGeom prst="rect">
            <a:avLst/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8" y="2990088"/>
            <a:ext cx="4261104" cy="45720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    behavior changes here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6368" y="3447288"/>
            <a:ext cx="4261104" cy="2331720"/>
          </a:xfrm>
          <a:prstGeom prst="rect">
            <a:avLst/>
          </a:prstGeom>
          <a:solidFill>
            <a:srgbClr val="3A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99248" y="356616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9248" y="38404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 rallies. Sell dips.</a:t>
            </a:r>
          </a:p>
        </p:txBody>
      </p:sp>
      <p:sp>
        <p:nvSpPr>
          <p:cNvPr id="37" name="Up Arrow 36"/>
          <p:cNvSpPr/>
          <p:nvPr/>
        </p:nvSpPr>
        <p:spPr>
          <a:xfrm>
            <a:off x="8366760" y="4242816"/>
            <a:ext cx="292608" cy="365760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9921240" y="4242816"/>
            <a:ext cx="292608" cy="365760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4645152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4645152"/>
            <a:ext cx="8686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0749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trends and accelerates.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777240"/>
            <a:ext cx="4261104" cy="5001768"/>
          </a:xfrm>
          <a:prstGeom prst="rect">
            <a:avLst/>
          </a:prstGeom>
          <a:noFill/>
          <a:ln w="15875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For Dominic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it as a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68040" cy="2276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way to read the regime,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mark the levels, and pick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contract.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trigger is a candle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5864" y="1078992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1188719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this is not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1554480"/>
            <a:ext cx="3368040" cy="2276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win rate. No backtest.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fixed dollar risk.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choose the dollars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every trade.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1078992"/>
            <a:ext cx="3697224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1078992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2272" y="1188719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stays 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2272" y="1554480"/>
            <a:ext cx="3368040" cy="2276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only. No margin.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naked short options.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calls, long puts,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debit spreads.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4242816"/>
            <a:ext cx="1859889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" y="4535424"/>
            <a:ext cx="1859889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481681" y="4498848"/>
            <a:ext cx="219456" cy="201168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19425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19425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29153" y="4242816"/>
            <a:ext cx="1859889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9153" y="4535424"/>
            <a:ext cx="1859889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7059" y="4498848"/>
            <a:ext cx="219456" cy="201168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54803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54803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4531" y="4242816"/>
            <a:ext cx="1859889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4531" y="4535424"/>
            <a:ext cx="1859889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152436" y="4498848"/>
            <a:ext cx="219456" cy="201168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90180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90180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9908" y="4242816"/>
            <a:ext cx="1859889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9908" y="4535424"/>
            <a:ext cx="1859889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9487814" y="4498848"/>
            <a:ext cx="219456" cy="201168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25558" y="4133087"/>
            <a:ext cx="2079345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25558" y="4133087"/>
            <a:ext cx="2079345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35286" y="4242816"/>
            <a:ext cx="1859889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5286" y="4535424"/>
            <a:ext cx="1859889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Your dollars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5358384"/>
            <a:ext cx="11420856" cy="89611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4048" y="5358384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" y="5486400"/>
            <a:ext cx="11055096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Numbers that are not the October 16, 2026 SPY book are marked EXAMPLE.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Charts are Black-Scholes. The inputs are printed on the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tools this deck assumes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7899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107899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TradingView. The 4h and the 15m.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90195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90195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90195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Averages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8528" y="190195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20, the 50, and the 200, on both.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72491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72491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72491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272491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Unusual Whales. Open interest for the swing.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54787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54787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54787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8528" y="354787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second public gamma source, before a swing.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437083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437083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37083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8528" y="437083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Swings, earnings, and an occasional 0DTE.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5193792"/>
            <a:ext cx="7360920" cy="7132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5193792"/>
            <a:ext cx="1417320" cy="71323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193792"/>
            <a:ext cx="1417320" cy="713232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38528" y="5193792"/>
            <a:ext cx="5623560" cy="713232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Cash. You pay the debit. No naked shorts.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1078992"/>
            <a:ext cx="3867912" cy="4937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36992" y="1078992"/>
            <a:ext cx="3867912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1261872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Allowed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9872" y="1645920"/>
            <a:ext cx="3520440" cy="1554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Long call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Long put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debit spread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debit spread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9872" y="3383280"/>
            <a:ext cx="3520440" cy="13716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9872" y="3547872"/>
            <a:ext cx="35204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Not this account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9872" y="3950208"/>
            <a:ext cx="3520440" cy="17373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 call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 put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Margin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Short stock as a hedge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shows where the hedge pushes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2315718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82496"/>
            <a:ext cx="231571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Customers trade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options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28950" y="1874519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155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2155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7862" y="1316736"/>
            <a:ext cx="2315718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7862" y="1682496"/>
            <a:ext cx="231571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take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other side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6459" y="1874519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906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906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5372" y="1316736"/>
            <a:ext cx="2315718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1682496"/>
            <a:ext cx="231571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with the stock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903969" y="1874519"/>
            <a:ext cx="256032" cy="237744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96578" y="1170432"/>
            <a:ext cx="2608326" cy="1783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96578" y="1170432"/>
            <a:ext cx="260832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2882" y="1316736"/>
            <a:ext cx="2315718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2882" y="1682496"/>
            <a:ext cx="231571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says how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hard that pushes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163824"/>
            <a:ext cx="11420856" cy="960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3163824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3273552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hedge. Gamma shows where that hedging pushes price.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315968"/>
            <a:ext cx="73152" cy="1417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4480560"/>
            <a:ext cx="3313176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push is pressure from the hedge. It is not a promise.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5864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45864" y="4315968"/>
            <a:ext cx="73152" cy="1417320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5320" y="4480560"/>
            <a:ext cx="3313176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still need the price action, and a candle close.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07680" y="4315968"/>
            <a:ext cx="3697224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07680" y="4315968"/>
            <a:ext cx="73152" cy="141732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7136" y="4480560"/>
            <a:ext cx="3313176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Direction comes from the break, or from the rejection.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DEALERS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Three lines on dealers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1536192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"Dealers hold large options positions from institutional and retail trading"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3" y="2084832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Their book is the other side of that flow. You read the net book, not one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798063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798063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96265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3255263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"Dealers use the underlying stock to hedge their options positions"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3" y="3803904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buy or sell shares against the option. That hedge is in the stock you chart.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517136"/>
            <a:ext cx="11420856" cy="1591056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4517136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681727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3" y="4974336"/>
            <a:ext cx="109636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"Delta tells them how many shares they need to stay neutral"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5522975"/>
            <a:ext cx="10963656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 is the share count. When delta changes, the count is wrong, so they trade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 is their share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903720" cy="3703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69037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61872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contract stands for 100 shares.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Exposure is delta times those 100 shares.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10312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210312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10312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0.20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64992" y="228600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210312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20 shares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88036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11880" y="288036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88036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0.50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364992" y="306324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288036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50 shares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3657600"/>
            <a:ext cx="288036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11880" y="3657600"/>
            <a:ext cx="32461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657600"/>
            <a:ext cx="288036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delta 0.80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364992" y="3840480"/>
            <a:ext cx="201168" cy="256032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3657600"/>
            <a:ext cx="3246120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80 shares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2360" y="1078992"/>
            <a:ext cx="4352544" cy="3703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1078992"/>
            <a:ext cx="435254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35240" y="1280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are not the dealer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1783080"/>
            <a:ext cx="3977639" cy="2697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hedge with stock.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short shares.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read their hedge so you know the push.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Then you buy a call, a put, or a debit spread.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937760"/>
            <a:ext cx="11420856" cy="129844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93776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5074920"/>
            <a:ext cx="10981944" cy="10241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long put with delta -0.50 acts like short 50 shares. You still only own the put.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did not borrow stock. The sign is direction. The number is size. Later you will ignore the sign on purpose.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is how fast delta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07008"/>
            <a:ext cx="10981944" cy="8046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re-hedge when delta changes. Gamma sets how much, and how often.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304288"/>
            <a:ext cx="5623560" cy="2697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304288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414016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gamma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79776"/>
            <a:ext cx="5294376" cy="20939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small move changes delta a lot.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share hedge is rebuilt in size.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are back in the stock often.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strike, near expiry.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2304288"/>
            <a:ext cx="5623560" cy="2697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2304288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414016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Low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779776"/>
            <a:ext cx="5294376" cy="20939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same move barely changes delta.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is a small update.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can sit.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far from the strike, or far from expiry.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166360"/>
            <a:ext cx="11420856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Calls and puts have the same gamma. The sign of the book is a separate question.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next slide is the shape, from the model. The one after that is the share 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BLACK-SCHOLES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peaks at the strike, near expiry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pic>
        <p:nvPicPr>
          <p:cNvPr id="10" name="Picture 9" descr="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24128"/>
            <a:ext cx="6903720" cy="39812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52360" y="1078992"/>
            <a:ext cx="4352544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078992"/>
            <a:ext cx="73152" cy="100584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207007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peak is at the money. Here, strike 100.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194560"/>
            <a:ext cx="4352544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2194560"/>
            <a:ext cx="73152" cy="100584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322576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1-day gamma at the peak is about 5.5 times the 30-day peak.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3310128"/>
            <a:ext cx="4352544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52360" y="3310128"/>
            <a:ext cx="73152" cy="1005840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3438144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7-day gamma at the peak is about 2.1 times the 30-day peak.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4425696"/>
            <a:ext cx="4352544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2360" y="4425696"/>
            <a:ext cx="73152" cy="1005840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4553712"/>
            <a:ext cx="39319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Far from the strike the line is flat. Little re-hedging.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59893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Scaled so the 30-day peak is 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199632"/>
            <a:ext cx="11420856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Black-Scholes, European, no dividend. Spot 100, IV 20%, rate 4%. Not a forecast.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RE-HEDGE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point of price, three hedges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pic>
        <p:nvPicPr>
          <p:cNvPr id="10" name="Picture 9" descr="h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6309360" cy="409122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40880" y="1097280"/>
            <a:ext cx="4754880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40880" y="1097280"/>
            <a:ext cx="475488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1207007"/>
            <a:ext cx="442569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bars 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1572768"/>
            <a:ext cx="4425696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 The dealer is short one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ATM call. Strike 100.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goes from 100 to 101.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bars are the shares they must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buy to get back to neutral.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32.7, 13.9, and 6.8 shares.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4480560"/>
            <a:ext cx="4754880" cy="1691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4480560"/>
            <a:ext cx="475488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645152"/>
            <a:ext cx="4434840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 the book. If the dealer is long that call, the same sizes are shares they sell. Same gamma. Opposite trade.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199632"/>
            <a:ext cx="11420856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Black-Scholes, European, no dividend. IV 20%, rate 4%. Share counts match the bars. Not a forecast.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Two ways the hedge can push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15568"/>
            <a:ext cx="5532120" cy="4160520"/>
          </a:xfrm>
          <a:prstGeom prst="rect">
            <a:avLst/>
          </a:prstGeom>
          <a:solidFill>
            <a:srgbClr val="14352F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2801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6916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Above the flip.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sell rallies and buy dips.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051560" y="3017520"/>
            <a:ext cx="365760" cy="457200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2331720" y="3017520"/>
            <a:ext cx="365760" cy="457200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54787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023360"/>
            <a:ext cx="50292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ranges, and it can pin.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Pin means price sticks near a heavy strike.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1115568"/>
            <a:ext cx="5522976" cy="4160520"/>
          </a:xfrm>
          <a:prstGeom prst="rect">
            <a:avLst/>
          </a:prstGeom>
          <a:solidFill>
            <a:srgbClr val="3A2226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12801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16916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Below the flip.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chase the move.</a:t>
            </a:r>
          </a:p>
        </p:txBody>
      </p:sp>
      <p:sp>
        <p:nvSpPr>
          <p:cNvPr id="21" name="Up Arrow 20"/>
          <p:cNvSpPr/>
          <p:nvPr/>
        </p:nvSpPr>
        <p:spPr>
          <a:xfrm>
            <a:off x="6949440" y="3017520"/>
            <a:ext cx="365760" cy="457200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wn Arrow 21"/>
          <p:cNvSpPr/>
          <p:nvPr/>
        </p:nvSpPr>
        <p:spPr>
          <a:xfrm>
            <a:off x="8229600" y="3017520"/>
            <a:ext cx="365760" cy="457200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354787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547872"/>
            <a:ext cx="9601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01384" y="4023360"/>
            <a:ext cx="50292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can trend, and it can accelerate.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Fades get run over.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440680"/>
            <a:ext cx="11420856" cy="8229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544068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5559552"/>
            <a:ext cx="11055096" cy="5852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deck reads dealer gamma. Above the flip is positive. Below the flip is negative.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They sell the rally and buy the dip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4523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43584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43584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148840"/>
            <a:ext cx="60350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5074920"/>
            <a:ext cx="603504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78308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1937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246120" y="2331720"/>
            <a:ext cx="384048" cy="502920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37744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Rally into the call wall.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sell stock.</a:t>
            </a:r>
          </a:p>
        </p:txBody>
      </p:sp>
      <p:sp>
        <p:nvSpPr>
          <p:cNvPr id="19" name="Up Arrow 18"/>
          <p:cNvSpPr/>
          <p:nvPr/>
        </p:nvSpPr>
        <p:spPr>
          <a:xfrm>
            <a:off x="3246120" y="4297680"/>
            <a:ext cx="384048" cy="502920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251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Dip into the put wall.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Dealers buy stock.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46120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stays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in the range.</a:t>
            </a:r>
          </a:p>
        </p:txBody>
      </p:sp>
      <p:sp>
        <p:nvSpPr>
          <p:cNvPr id="22" name="Oval 21"/>
          <p:cNvSpPr/>
          <p:nvPr/>
        </p:nvSpPr>
        <p:spPr>
          <a:xfrm>
            <a:off x="2331720" y="2880360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51760" y="3246120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31720" y="3611880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51760" y="3977639"/>
            <a:ext cx="128016" cy="128016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1078992"/>
            <a:ext cx="380390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1078992"/>
            <a:ext cx="38039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5592" y="1188719"/>
            <a:ext cx="347472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1554480"/>
            <a:ext cx="3474720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edges.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Only after a rejection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candle closes back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trade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breakout.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 is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later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They chase, so the move can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4523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43584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43584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331720"/>
            <a:ext cx="603504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4709160"/>
            <a:ext cx="603504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9659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2803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Up Arrow 16"/>
          <p:cNvSpPr/>
          <p:nvPr/>
        </p:nvSpPr>
        <p:spPr>
          <a:xfrm>
            <a:off x="3383280" y="1371600"/>
            <a:ext cx="365760" cy="475488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353312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Rally. Dealers buy.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rally gets fuel.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383280" y="4983480"/>
            <a:ext cx="365760" cy="475488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493776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Drop. Dealers sell.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drop gets fuel.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154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break can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run.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078992"/>
            <a:ext cx="380390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1078992"/>
            <a:ext cx="380390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1188719"/>
            <a:ext cx="347472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1554480"/>
            <a:ext cx="3474720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first touch.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Trade the break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a 4h close.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it.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 is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later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Same calls, opposite hedge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024128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10 contracts. Deltas are chosen so the share count is obvious. This is one call book, not every 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600200"/>
            <a:ext cx="5623560" cy="4526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" y="1600200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755648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Positive book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Dealer is long the 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487168"/>
            <a:ext cx="5212080" cy="3383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Start. Delta +0.50.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short 500 shares.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Later. Delta +0.60.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short 600 shares.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sell 100 shares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rally.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600200"/>
            <a:ext cx="5623560" cy="4526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00200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55648"/>
            <a:ext cx="5212080" cy="6583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Negative book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Dealer is short the calls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87168"/>
            <a:ext cx="5212080" cy="3383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Start. Delta -0.50.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long 500 shares.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Later. Delta -0.60.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Hedge: long 600 shares.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buy 100 shares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rally.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flip is a change in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72084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24358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1691640"/>
            <a:ext cx="3931920" cy="1691640"/>
          </a:xfrm>
          <a:prstGeom prst="rect">
            <a:avLst/>
          </a:prstGeom>
          <a:solidFill>
            <a:srgbClr val="14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1874519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Above the flip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gamma. Fade.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440680" y="1965960"/>
            <a:ext cx="329184" cy="384048"/>
          </a:xfrm>
          <a:prstGeom prst="down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5440680" y="2606040"/>
            <a:ext cx="329184" cy="384048"/>
          </a:xfrm>
          <a:prstGeom prst="up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383280"/>
            <a:ext cx="5989320" cy="7315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59893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    net gamma changes 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3977639"/>
            <a:ext cx="3931920" cy="1783080"/>
          </a:xfrm>
          <a:prstGeom prst="rect">
            <a:avLst/>
          </a:prstGeom>
          <a:solidFill>
            <a:srgbClr val="3A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4160520"/>
            <a:ext cx="3611880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Below the flip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gamma. Chase.</a:t>
            </a:r>
          </a:p>
        </p:txBody>
      </p:sp>
      <p:sp>
        <p:nvSpPr>
          <p:cNvPr id="20" name="Up Arrow 19"/>
          <p:cNvSpPr/>
          <p:nvPr/>
        </p:nvSpPr>
        <p:spPr>
          <a:xfrm>
            <a:off x="5440680" y="4114800"/>
            <a:ext cx="329184" cy="384048"/>
          </a:xfrm>
          <a:prstGeom prst="up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5440680" y="4754880"/>
            <a:ext cx="329184" cy="384048"/>
          </a:xfrm>
          <a:prstGeom prst="downArrow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1078992"/>
            <a:ext cx="453542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1078992"/>
            <a:ext cx="45354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34072" y="1188719"/>
            <a:ext cx="42062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a level to lean 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1554480"/>
            <a:ext cx="4206240" cy="17282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marks a change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behavior.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 and resistance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are the walls.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3566160"/>
            <a:ext cx="4535424" cy="25877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3566160"/>
            <a:ext cx="453542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3675887"/>
            <a:ext cx="42062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It can sit on a wall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4041648"/>
            <a:ext cx="4206240" cy="1984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can fall between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two strikes.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sits on a wall, that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edge is the regime line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the level, together.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 the flip, the hedge goes quiet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10917936" cy="1920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There is near-zero hedging on the flip itself.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often consolidates there, until it picks a side.</a:t>
            </a:r>
          </a:p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tight chop on the line is not a signal. It is the wait.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3611880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21608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 the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87368"/>
            <a:ext cx="3368040" cy="191109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Little stock to buy or sell for the gamma hedge. Price often sits.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45864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45864" y="3611880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0456" y="3721608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Accepts above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0456" y="4087368"/>
            <a:ext cx="3368040" cy="191109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holds above the flip. Expect fade behavior. Read it as positive.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7680" y="3611880"/>
            <a:ext cx="3697224" cy="2514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7680" y="3611880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2272" y="3721608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Accepts below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2272" y="4087368"/>
            <a:ext cx="3368040" cy="191109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holds below the flip. Expect chase behavior. Read it as negative.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 FLIP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wick is not a new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225296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25296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06040"/>
            <a:ext cx="507492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2677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9387" y="1691640"/>
            <a:ext cx="21945" cy="246887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3246120"/>
            <a:ext cx="182880" cy="27432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88036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Wick through.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 back on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old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Still the old regime.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45936" y="1225296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1225296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606040"/>
            <a:ext cx="123444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7067" y="1554480"/>
            <a:ext cx="21945" cy="224028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86600" y="1965960"/>
            <a:ext cx="182880" cy="274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196596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through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 It still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has to 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34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Possible new side.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5212080"/>
            <a:ext cx="11420856" cy="10241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" y="521208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3" y="535838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the 4h close, or the daily close. Do not change the plan on a touch.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later candles hold on the new side, treat the regime as changed and read the book again.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walls are support and resistance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81228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225296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25296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17320" y="1554480"/>
            <a:ext cx="18288" cy="4160520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1691640"/>
            <a:ext cx="3017520" cy="25603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44168" y="1627632"/>
            <a:ext cx="146304" cy="146304"/>
          </a:xfrm>
          <a:prstGeom prst="ellipse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154533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115   call wall    resistance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34439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19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00199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79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6596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4884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3172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1460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9748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88036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6324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4612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1188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94760" y="2606040"/>
            <a:ext cx="109728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77640" y="2606040"/>
            <a:ext cx="91439" cy="1828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44168" y="2542032"/>
            <a:ext cx="146304" cy="146304"/>
          </a:xfrm>
          <a:prstGeom prst="ellipse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60520" y="245973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108   flip    behavior, not a wall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" y="3703320"/>
            <a:ext cx="3017520" cy="25603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44168" y="3639312"/>
            <a:ext cx="146304" cy="146304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3557015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100   spot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4892040"/>
            <a:ext cx="3017520" cy="25603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344168" y="4828031"/>
            <a:ext cx="146304" cy="146304"/>
          </a:xfrm>
          <a:prstGeom prst="ellipse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60520" y="4745736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90    put wall    support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1078992"/>
            <a:ext cx="444398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60920" y="1078992"/>
            <a:ext cx="4443984" cy="5029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25512" y="1188719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How to use them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25512" y="1554480"/>
            <a:ext cx="4114800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wall: the heavy call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strike above. Resistance.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wall: the heavy put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strike below. Support.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are the swing map.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decides if you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them, or if you trade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through them.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is drawn here so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confuse it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wall.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regime picks fade or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 at a 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leans back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range.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tag is not the trade.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rejection candle that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inside is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fade.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buy the breakout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while spot is still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above the flip.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 at a wall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hedge can turn into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chase once price goes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through.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touch is not the trade.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4h close outside the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range is the trade.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it.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the wall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only because it is a wall.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Walls move. Big expiries reset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801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wall is this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7451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Earlier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31720"/>
            <a:ext cx="21945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31720" y="2880360"/>
            <a:ext cx="329184" cy="420624"/>
          </a:xfrm>
          <a:prstGeom prst="downArrow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open interest shifts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66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Later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69080"/>
            <a:ext cx="21945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38862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new call wall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09160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them again.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Yesterday's line can be dead.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 is what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builds the wall.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that expiry passes,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those contracts are gone.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monthly expiry is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big reset.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SPY also expires through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week. After a large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one, rebuild the map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before you trust the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old levels.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TEXTBOOK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Charm and vanna, in one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31912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change in delta as time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passes, with price and IV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held still.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Also called delta decay.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hedge can drift on a flat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day because the clock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Vanna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31912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change in delta when IV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changes, with price held still.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also the change in vega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price changes.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hedge can shift on a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volatility move, even if the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stock has 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047488"/>
            <a:ext cx="11420856" cy="11704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5047488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5212080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Textbook definitions. This deck does not trade charm or vanna.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trade gamma, the walls, and the close. These two only explain a hedge that moves on a quiet tape.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UNUSUAL WHALES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Four rules on your gamma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25295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5448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Heatmap colors are net gamma.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put gamma. Not call gamma by itself. The combined number.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1225295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155448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By-strike draws two lines.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08483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wall, and spot. It does not draw the put wall. It does not draw the flip.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22783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22783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374136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70332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find the put wall.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23367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the longest purple bar below spot.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81344" y="3227832"/>
            <a:ext cx="5623560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1344" y="3227832"/>
            <a:ext cx="562356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3374136"/>
            <a:ext cx="9144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703320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find the flip.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4233672"/>
            <a:ext cx="52578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where the heatmap color changes. Not a printed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5440680"/>
            <a:ext cx="114208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Open interest is the swing. Directionalized Volume is the day. The next drawings are schematics.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They are marked ILLUSTRATIVE. They are not screenshots, and the heatmap colors are stand-ins.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color is net gamma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2412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2412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042415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Stand-in colors. Not the Unusual Whales palette.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+2d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6664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+7d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2776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+14d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8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1444752"/>
            <a:ext cx="841248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+2mo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1783080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800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34440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0552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30552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26664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6664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22776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22776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18888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18888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1783080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1783080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2258568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4440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0552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30552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026664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26664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22776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2776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18888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8888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0" y="2258568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2258568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2734056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440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34440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30552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30552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6664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26664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22776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2776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18888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18888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15000" y="2734056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0" y="2734056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" y="3209544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34440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34440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30552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30552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6664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26664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22776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22776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818888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0" y="3209544"/>
            <a:ext cx="841248" cy="420624"/>
          </a:xfrm>
          <a:prstGeom prst="rect">
            <a:avLst/>
          </a:prstGeom>
          <a:solidFill>
            <a:srgbClr val="1C6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15000" y="3209544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+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440" y="3703319"/>
            <a:ext cx="5321808" cy="41148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4440" y="3758183"/>
            <a:ext cx="53035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  =  where the color changes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4048" y="4069079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34440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4440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130552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130552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26664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26664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22776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922776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818888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818888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15000" y="4069079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15000" y="4069079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4544567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234440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34440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130552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130552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026664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26664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922776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922776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818888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818888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15000" y="4544567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715000" y="4544567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4048" y="5020055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740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234440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34440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130552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130552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026664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026664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922776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22776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818888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818888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15000" y="5020055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715000" y="5020055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4048" y="5495543"/>
            <a:ext cx="777240" cy="420624"/>
          </a:xfrm>
          <a:prstGeom prst="rect">
            <a:avLst/>
          </a:prstGeom>
          <a:noFill/>
        </p:spPr>
        <p:txBody>
          <a:bodyPr wrap="square" lIns="0" rIns="54864" tIns="0" bIns="0"/>
          <a:lstStyle/>
          <a:p>
            <a:pPr algn="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730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34440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34440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130552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130552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026664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026664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922776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922776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818888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818888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715000" y="5495543"/>
            <a:ext cx="841248" cy="420624"/>
          </a:xfrm>
          <a:prstGeom prst="rect">
            <a:avLst/>
          </a:prstGeom>
          <a:solidFill>
            <a:srgbClr val="7A3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15000" y="5495543"/>
            <a:ext cx="841248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-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18120" y="1444752"/>
            <a:ext cx="3977639" cy="4617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818120" y="1444752"/>
            <a:ext cx="3977639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001000" y="164592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it this way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01000" y="233172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Plus cells: positive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net gamma.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Minus cells: negative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net gamma.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sign is the lesson.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shade is not live data.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the real page, match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color to the legend.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memorize a hue.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BY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chart does not draw every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2412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2412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371600"/>
            <a:ext cx="5623560" cy="48006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4447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1481328"/>
            <a:ext cx="966978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9019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1938528"/>
            <a:ext cx="1557909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591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395728"/>
            <a:ext cx="343814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8163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2852928"/>
            <a:ext cx="2256282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32735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3310128"/>
            <a:ext cx="128930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7307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3767328"/>
            <a:ext cx="1074420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41879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224528"/>
            <a:ext cx="4297680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46451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681728"/>
            <a:ext cx="1933956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51023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5138928"/>
            <a:ext cx="2900934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5559552"/>
            <a:ext cx="658368" cy="329184"/>
          </a:xfrm>
          <a:prstGeom prst="rect">
            <a:avLst/>
          </a:prstGeom>
          <a:noFill/>
        </p:spPr>
        <p:txBody>
          <a:bodyPr wrap="square" lIns="0" rIns="36576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745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5596128"/>
            <a:ext cx="805815" cy="25603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000" y="4123944"/>
            <a:ext cx="4297680" cy="20116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0" y="384962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90722" y="2980944"/>
            <a:ext cx="1949957" cy="25603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9010" y="2706624"/>
            <a:ext cx="132588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2" y="1078992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1078992"/>
            <a:ext cx="73152" cy="1152144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37376" y="115214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Drawn for you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1463039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Spot, and the call wall. Those two lines are on the chart.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2340863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2340863"/>
            <a:ext cx="73152" cy="1152144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2414015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mark the put wall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2724911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Longest purple bar below spot. Here that is 760. It is not drawn as a line.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3602735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9632" y="3602735"/>
            <a:ext cx="73152" cy="1152144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37376" y="36758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Ignore the trap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3986783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long bar at 780 is above spot. Longest bar on the wrong side is not the put wall.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99632" y="4864607"/>
            <a:ext cx="5605272" cy="1152144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99632" y="4864607"/>
            <a:ext cx="73152" cy="1152144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37376" y="493775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Flip is not here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7376" y="5248655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look for it on this chart. The color change is on the heatmap.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TWO CLOCKS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 is the swing. Volume is the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3374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that are still open.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book already on.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builds the walls and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for swing levels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for the regime.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Directionalized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3374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What traded in the session,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direction on the flow.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intraday view.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does not set the swing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wall, and it does not set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monthly regime.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230368"/>
            <a:ext cx="11420856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5230368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5376672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Do not swap them. A midday push on Directionalized Volume does not move your wall.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Check the three levels in public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3949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3949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280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Write these 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74519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7451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874519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240279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Support. From open interest.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6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08960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747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Resistance. From open interest.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512064" cy="512064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512064" cy="51206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343400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7091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Where net gamma changes sign.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61888" y="1078992"/>
            <a:ext cx="5843016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61888" y="1078992"/>
            <a:ext cx="584301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79" y="1188719"/>
            <a:ext cx="5513831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second source disagrees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9" y="1554480"/>
            <a:ext cx="5513831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want the same story,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the same pixel.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expiry?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interest, not today's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volume?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Dealer gamma, or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customer sign? Customer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gamma flips the colors.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still disagrees, you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still need a close. No trade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off a level you cannot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find twice.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month sets the posture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Today's open 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24597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Sets the playbook.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above the flip: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positive. You fade.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below the flip: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negative. You trade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break.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past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24597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Sets the risk posture.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positive month is a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pinning environment.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negative month is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faster. Breaks can run.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Stops need more room.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15968"/>
            <a:ext cx="11420856" cy="187451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315968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98848"/>
            <a:ext cx="10917936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room changes how many contracts your dollars buy.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dollar amount is still yours, every trade.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deck never sets a percent, and it never sets a dollar risk.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today and the month disagree, trade today's book. Let the month change the room, not the playbook.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Where each clock sits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360920" cy="9875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736092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25295"/>
            <a:ext cx="502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188719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55448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Risk posture. You pick the dollars.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176272"/>
            <a:ext cx="7360920" cy="9875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176272"/>
            <a:ext cx="736092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22576"/>
            <a:ext cx="502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286000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5176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Walls, the flip, and the playbook.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3273552"/>
            <a:ext cx="7360920" cy="9875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273552"/>
            <a:ext cx="73609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419856"/>
            <a:ext cx="502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383280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749039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range, and the trigger.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370831"/>
            <a:ext cx="7360920" cy="9875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4370831"/>
            <a:ext cx="736092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517136"/>
            <a:ext cx="502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480559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846319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Entry timing. The 20, 50, and 200.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078992"/>
            <a:ext cx="389534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078992"/>
            <a:ext cx="389534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74152" y="1188719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Two extras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1554480"/>
            <a:ext cx="3566160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daily close is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to add when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level is a major wall,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the flip.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averages do 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replace the walls.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They confirm them.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15m does 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overrule the 4h.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PRICE AND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Trade the range and the walls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840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72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They line 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2103120"/>
            <a:ext cx="3017520" cy="2331720"/>
          </a:xfrm>
          <a:prstGeom prst="rect">
            <a:avLst/>
          </a:prstGeom>
          <a:solidFill>
            <a:srgbClr val="1A2836"/>
          </a:solidFill>
          <a:ln w="19050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0574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= box 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88620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= box bottom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078992"/>
            <a:ext cx="5623560" cy="38404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4" y="15727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They do not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2148840"/>
            <a:ext cx="210312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03720" y="2606040"/>
            <a:ext cx="1645920" cy="1234440"/>
          </a:xfrm>
          <a:prstGeom prst="rect">
            <a:avLst/>
          </a:prstGeom>
          <a:solidFill>
            <a:srgbClr val="1A2836"/>
          </a:solidFill>
          <a:ln w="19050">
            <a:solidFill>
              <a:srgbClr val="E6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4297680"/>
            <a:ext cx="210312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196596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Walls outside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97180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4h box is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only the middle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5074920"/>
            <a:ext cx="11420856" cy="11430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5074920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230368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works best when they line up. Then the playbook levels and the chart levels are the same prices.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When they are not, you have two stories. Do not average them into a new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PRICE AND 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maps disagree, wait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25295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Box inside the walls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3" y="170078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edges of the box are price action only. Do not call them walls. The walls are still outside.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77063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770632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916936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Through a wall, no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" y="339242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has poked a wall and the 4h has not closed out. Wait for that close. A wick is not a side.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462272"/>
            <a:ext cx="11420856" cy="15727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462272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4608576"/>
            <a:ext cx="109636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Wall inside the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5084064"/>
            <a:ext cx="10963656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wall is the level. The rest of the box is range. Do not split the difference and invent a third price.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SPY book from that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15568"/>
            <a:ext cx="274548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115568"/>
            <a:ext cx="2745486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80160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2452878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651760"/>
            <a:ext cx="2452878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Support. Bottom of the box.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5838" y="1115568"/>
            <a:ext cx="274548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75838" y="1115568"/>
            <a:ext cx="2745486" cy="5029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2142" y="1280160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1691640"/>
            <a:ext cx="2452878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2651760"/>
            <a:ext cx="2452878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Resistance. Top of the box.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7628" y="1115568"/>
            <a:ext cx="274548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7628" y="1115568"/>
            <a:ext cx="274548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3932" y="1280160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3932" y="1691640"/>
            <a:ext cx="2452878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774.5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3932" y="2651760"/>
            <a:ext cx="2452878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Behavior change. On the ceiling.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115568"/>
            <a:ext cx="274548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9418" y="1115568"/>
            <a:ext cx="2745486" cy="50292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05722" y="1280160"/>
            <a:ext cx="2452878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5722" y="1691640"/>
            <a:ext cx="2452878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about 763.2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5722" y="2651760"/>
            <a:ext cx="2452878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Under the flip. Inside the walls.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160520"/>
            <a:ext cx="11420856" cy="960120"/>
          </a:xfrm>
          <a:prstGeom prst="rect">
            <a:avLst/>
          </a:prstGeom>
          <a:solidFill>
            <a:srgbClr val="3A2226"/>
          </a:solidFill>
          <a:ln w="15875">
            <a:solidFill>
              <a:srgbClr val="FF7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4279392"/>
            <a:ext cx="10981944" cy="731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Regime: negative gamma. Spot is under the flip. Most of 760 to 775 is under it too.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5303520"/>
            <a:ext cx="11420856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These are the open-interest levels from the October 16, 2026 SPY close, as used for this example.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775 minus 760 is 15 points. On spot about 763, that box is about 2% wide.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4h range was the walls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178040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65960" y="1554480"/>
            <a:ext cx="18288" cy="4251959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0280" y="2617470"/>
            <a:ext cx="3246120" cy="2277835"/>
          </a:xfrm>
          <a:prstGeom prst="rect">
            <a:avLst/>
          </a:prstGeom>
          <a:solidFill>
            <a:srgbClr val="24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3500355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4h range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760 to 775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617470"/>
            <a:ext cx="3977639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7088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02536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7984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13432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6887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2432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7977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3522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9067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1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0156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5701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1246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6791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2335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7880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3425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48970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4515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0059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56047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1495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266943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22391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77839" y="2693397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640" y="4895305"/>
            <a:ext cx="3977639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606040" y="4327071"/>
            <a:ext cx="164592" cy="164592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0" y="2452877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775 call wall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2547093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720" y="4263063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763.2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4749001"/>
            <a:ext cx="160020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760 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26679" y="1060704"/>
            <a:ext cx="407822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26679" y="1060704"/>
            <a:ext cx="4078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120700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Top of the box, opened up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01000" y="2296160"/>
            <a:ext cx="210312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0100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4730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3991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86216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3252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7882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02512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7143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17736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64040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610344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756648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902952" y="2567093"/>
            <a:ext cx="91440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049256" y="2567093"/>
            <a:ext cx="54863" cy="16459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95560" y="214985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775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95560" y="242078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774.5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60" y="2944368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Half a point apart. Linear scale.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26679" y="3547872"/>
            <a:ext cx="4078224" cy="263347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726679" y="3547872"/>
            <a:ext cx="4078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891271" y="3657600"/>
            <a:ext cx="374903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picture says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91271" y="4023360"/>
            <a:ext cx="3749039" cy="202996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box and the walls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are the same prices.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 is glued to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wall.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Almost the whole box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negative gamma.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you do with that 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97280"/>
            <a:ext cx="36972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207007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 through 760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72768"/>
            <a:ext cx="3368040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Still under the flip.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Negative gamma stands.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Go with the downside.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side.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5864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45864" y="1097280"/>
            <a:ext cx="369722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0456" y="1207007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Poke, then back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0456" y="1572768"/>
            <a:ext cx="3368040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inside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box.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Failed break.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trade. Old 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7680" y="1097280"/>
            <a:ext cx="3697224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7680" y="1097280"/>
            <a:ext cx="36972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2272" y="1207007"/>
            <a:ext cx="33680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Holds above 775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2272" y="1572768"/>
            <a:ext cx="3368040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crossed the flip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the call wall.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Regime likely changed.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Re-read before you 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526280"/>
            <a:ext cx="11420856" cy="16642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52628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4681728"/>
            <a:ext cx="10981944" cy="13533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760 to 775 you wait. The regime in the box is negative, so you do not fade either wall.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upside is not a normal break. The flip is about 774.5, so a hold above 775 is a new book.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fade it on the old plan, and do not chase it on the old plan.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gamma: fade the 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36092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736092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43584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The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91640"/>
            <a:ext cx="6949440" cy="4160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 Spot is above the flip. The regime is positive.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 Price tags the call wall, or the put wall.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 A rejection candle closes back inside the range.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 Enter on that close. Not on the tag.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 Stop is beyond that candle's high, or its low.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 You exit if a later candle closes past that extreme.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 Do not trade the breakout while this regime holds.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078992"/>
            <a:ext cx="389534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0" y="1078992"/>
            <a:ext cx="389534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1188719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Which contract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1554480"/>
            <a:ext cx="3566160" cy="17282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call wall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put.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Fade the put wall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call.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3566160"/>
            <a:ext cx="3895344" cy="25877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3566160"/>
            <a:ext cx="389534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3675887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it holds outside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041648"/>
            <a:ext cx="3566160" cy="1984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outside is not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your entry here.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that close holds,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likely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changed. Rebuild.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chase it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this plan.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rejection has to look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635240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23560" y="1188720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0" y="1188720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965960"/>
            <a:ext cx="484632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74920"/>
            <a:ext cx="484632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6276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937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4987" y="1554480"/>
            <a:ext cx="21945" cy="169163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74519" y="2606040"/>
            <a:ext cx="182880" cy="27431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14447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Stop beyond this high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697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Enter on this</a:t>
            </a:r>
          </a:p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close, inside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49547" y="3794760"/>
            <a:ext cx="21945" cy="182880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9080" y="4434840"/>
            <a:ext cx="182880" cy="274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315968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Enter on this</a:t>
            </a:r>
          </a:p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close, inside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5669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Stop beyond this 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1060704"/>
            <a:ext cx="3621024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1060704"/>
            <a:ext cx="362102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1170431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close 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1536192"/>
            <a:ext cx="3291840" cy="45171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wick can leave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range.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body has to finish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back inside.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close outside is not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fade.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stop sits beyond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rejection extreme.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through the stop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not the exit.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later close through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gamma: trade the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36092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736092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43584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691640"/>
            <a:ext cx="6949440" cy="4160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 Spot is below the flip. The regime is negative.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 Inside the range, you do nothing.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 A 4h candle closes outside, through the wall.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 Go with that close.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 Down break: put side. Up break: call side if still under the flip.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 You exit if a later 4h close comes back inside.</a:t>
            </a:r>
          </a:p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 Do not fade the first touch.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1078992"/>
            <a:ext cx="389534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60" y="1078992"/>
            <a:ext cx="389534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1188719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Which contract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1554480"/>
            <a:ext cx="3566160" cy="17282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Break up: long call,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call debit spread.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Break down: long put,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put debit spread.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3566160"/>
            <a:ext cx="3895344" cy="258775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3566160"/>
            <a:ext cx="389534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3675887"/>
            <a:ext cx="356616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If the break is the flip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041648"/>
            <a:ext cx="3566160" cy="198424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normal negative break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stays under the flip.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close also crosses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flip, a hold means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likely changed.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Re-read before the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next trade.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break has to look 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7635240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23560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3560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331720"/>
            <a:ext cx="4937760" cy="2743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709160"/>
            <a:ext cx="4937760" cy="2743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280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C9B2FF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37867" y="1417320"/>
            <a:ext cx="21945" cy="164592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57400" y="1645920"/>
            <a:ext cx="182880" cy="320039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14600" y="1353312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through. Enter.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8187" y="3977639"/>
            <a:ext cx="21945" cy="173736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5074920"/>
            <a:ext cx="182880" cy="320040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489204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4h close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through. Enter.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Inside the range: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no trade.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1060704"/>
            <a:ext cx="3621024" cy="5120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79" y="1060704"/>
            <a:ext cx="3621024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8471" y="1170431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failed break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1" y="1536192"/>
            <a:ext cx="3291840" cy="451713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wrong if a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later 4h candle closes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back inside the range.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is the stop.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back inside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not the exit.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Hard loss is still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debit, if the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option goes to zero.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poke is not a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157276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06040"/>
            <a:ext cx="493776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Range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37867" y="1965960"/>
            <a:ext cx="21945" cy="18288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880360"/>
            <a:ext cx="182880" cy="27432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5147" y="2788920"/>
            <a:ext cx="21945" cy="118871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54679" y="3063240"/>
            <a:ext cx="182880" cy="4572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2926080"/>
            <a:ext cx="19202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Pushes out.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Next bar stays in.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Old plan stands. No chase.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1078992"/>
            <a:ext cx="5623560" cy="397763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45936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57276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Holds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3063240"/>
            <a:ext cx="493776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7614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4267" y="1783080"/>
            <a:ext cx="21945" cy="173736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43800" y="2057400"/>
            <a:ext cx="182880" cy="3657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58707" y="1691640"/>
            <a:ext cx="21945" cy="118871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78240" y="1965960"/>
            <a:ext cx="182880" cy="3657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1160" y="3246120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out.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next close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stays out.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343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Regime likely changed.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212080"/>
            <a:ext cx="11420856" cy="1005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21208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" y="5340096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close starts the idea. A hold is what changes the regime. If a later close snaps back inside, it did not hold.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it holds, change the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80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Close outside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4h or daily candle finishes outside the old range.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440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6440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280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0712" y="17373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It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later candle is still closed outside. It did not come back 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280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17373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it changed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 likely changed. Stop using the old fade or the old break.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5128" y="1115568"/>
            <a:ext cx="274320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5128" y="1115568"/>
            <a:ext cx="27432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71432" y="1280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1737360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 the 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40280"/>
            <a:ext cx="2468880" cy="1508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New walls. New flip. New side of spot. Then the new playbook.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187952"/>
            <a:ext cx="11420856" cy="19933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187952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4370832"/>
            <a:ext cx="10981944" cy="1645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Already negative, and the break does not cross the flip: the first 4h close outside is the entry. That is the negative playbook.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Was positive, or the close crosses the flip: the first close outside is a warning, not a chase. Wait to see if it holds, then re-read.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it closes back inside, it was not a change. You are on the old plan.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Alerts fire on the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243584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Touch. No alert.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331720"/>
            <a:ext cx="310896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93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7867" y="1737360"/>
            <a:ext cx="21945" cy="205740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788920"/>
            <a:ext cx="182880" cy="36576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2606040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wick tags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level.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back.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078992"/>
            <a:ext cx="5623560" cy="37947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243584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Close. Alert.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1143000" cy="25603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67067" y="1600200"/>
            <a:ext cx="21945" cy="21031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1965960"/>
            <a:ext cx="182880" cy="3657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18120" y="2148840"/>
            <a:ext cx="3566160" cy="1234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finishes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through the level.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Then you check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5047488"/>
            <a:ext cx="11420856" cy="11704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4048" y="5047488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5193792"/>
            <a:ext cx="10981944" cy="8961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or daily. Those are the swing closes. Never an intraday touch.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TradingView, fire the alert on the bar close. A crossing alert can fire mid-candle. That is a touch.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watch alert, then an entry alert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07008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07008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207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A level at 100. Not the SPY book.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606040"/>
            <a:ext cx="9601200" cy="18288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03720" y="2331720"/>
            <a:ext cx="1417320" cy="566928"/>
          </a:xfrm>
          <a:prstGeom prst="rect">
            <a:avLst/>
          </a:prstGeom>
          <a:solidFill>
            <a:srgbClr val="332C16"/>
          </a:solidFill>
          <a:ln w="14604">
            <a:solidFill>
              <a:srgbClr val="E6B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96596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Band</a:t>
            </a:r>
          </a:p>
        </p:txBody>
      </p:sp>
      <p:sp>
        <p:nvSpPr>
          <p:cNvPr id="17" name="Oval 16"/>
          <p:cNvSpPr/>
          <p:nvPr/>
        </p:nvSpPr>
        <p:spPr>
          <a:xfrm>
            <a:off x="8732520" y="2505456"/>
            <a:ext cx="201168" cy="201168"/>
          </a:xfrm>
          <a:prstGeom prst="ellipse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Entry alert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on the close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0" y="2505456"/>
            <a:ext cx="201168" cy="201168"/>
          </a:xfrm>
          <a:prstGeom prst="ellipse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30175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Watch alert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1% to 2% before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196596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You are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096512"/>
            <a:ext cx="5623560" cy="21214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09651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Watch means look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72000"/>
            <a:ext cx="5294376" cy="151790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do not buy it.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open the chart.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entry alert is the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or daily close,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the direction of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playbook.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4096512"/>
            <a:ext cx="5623560" cy="21214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409651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206240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1-2% is 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4572000"/>
            <a:ext cx="5294376" cy="1517903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It is distance on the chart,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not a risk percent.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a wide book it sits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front of the wall.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October 16 box: 2%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was the whole range.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zone is a band. Stay quiet inside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24358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A hairline gets wicked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2331720"/>
            <a:ext cx="4023360" cy="18288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97987" y="1737360"/>
            <a:ext cx="21945" cy="1508760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2606040"/>
            <a:ext cx="182880" cy="274319"/>
          </a:xfrm>
          <a:prstGeom prst="rect">
            <a:avLst/>
          </a:prstGeom>
          <a:solidFill>
            <a:srgbClr val="B4B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tick through the strike looks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like a break. The close decides.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078992"/>
            <a:ext cx="5623560" cy="3063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24358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A band covers the chop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1965960"/>
            <a:ext cx="2377440" cy="777240"/>
          </a:xfrm>
          <a:prstGeom prst="rect">
            <a:avLst/>
          </a:prstGeom>
          <a:solidFill>
            <a:srgbClr val="14352F"/>
          </a:solidFill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38667" y="2057400"/>
            <a:ext cx="21945" cy="594359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2194560"/>
            <a:ext cx="182880" cy="274320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the band: no entry,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no stop-out on a wick.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297680"/>
            <a:ext cx="11420856" cy="1874519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29768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4462272"/>
            <a:ext cx="10981944" cy="1554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watch alert is the tap on the shoulder, 1% to 2% before you reach the band.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band is where you stay quiet. Draw it wide enough to cover a wick around the strike.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you need a width, use the chop already on the 4h at that strike. Do not use a one-tick line.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October 16 the walls were about 2% apart, so a 2% watch of one wall sat near the other wall.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One close, then the other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Strong 4h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16367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finishes clearly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through the band. The body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on the break side.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can be the entry, if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other checks agree.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22402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15m break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16367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to time the entry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once the 4h idea is set.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15m break against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plan is not a trade.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4h decides the idea.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456432"/>
            <a:ext cx="11420856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Convergence. These should lean the same way.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3886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3886200"/>
            <a:ext cx="1965960" cy="38404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Price 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06040" y="38862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06040" y="3886200"/>
            <a:ext cx="2103120" cy="38404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20 / 50 / 200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886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3886200"/>
            <a:ext cx="1965960" cy="38404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Gamma level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3886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3886200"/>
            <a:ext cx="1965960" cy="38404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38862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3886200"/>
            <a:ext cx="1965960" cy="38404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480560"/>
            <a:ext cx="11420856" cy="1691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4480560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4645152"/>
            <a:ext cx="10981944" cy="1371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Check all five. If one of them fights the trade, wait.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Quiet news is fine. News that fights the trade is not.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Missing flow is not a yes. If you have no read, say so.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pretend a blank is a yes.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AVERAGES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20, the 50, and the 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690372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1225296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332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1755648" cy="29260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ILLUSTRATIVE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91056"/>
            <a:ext cx="62179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Not a real ticker. Three averages, and one wall.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31720"/>
            <a:ext cx="5760720" cy="18288"/>
          </a:xfrm>
          <a:prstGeom prst="rect">
            <a:avLst/>
          </a:prstGeom>
          <a:solidFill>
            <a:srgbClr val="6E7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01168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246120"/>
            <a:ext cx="5760720" cy="22860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160520"/>
            <a:ext cx="576072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4048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160520"/>
            <a:ext cx="5760720" cy="10972"/>
          </a:xfrm>
          <a:prstGeom prst="rect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42976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7AD7E4"/>
                </a:solidFill>
                <a:latin typeface="Liberation Sans"/>
                <a:ea typeface="Liberation Sans"/>
                <a:cs typeface="Liberation Sans"/>
              </a:rPr>
              <a:t>Wall on the 20</a:t>
            </a:r>
          </a:p>
        </p:txBody>
      </p:sp>
      <p:sp>
        <p:nvSpPr>
          <p:cNvPr id="22" name="Oval 21"/>
          <p:cNvSpPr/>
          <p:nvPr/>
        </p:nvSpPr>
        <p:spPr>
          <a:xfrm>
            <a:off x="3703320" y="4078224"/>
            <a:ext cx="182880" cy="182880"/>
          </a:xfrm>
          <a:prstGeom prst="ellipse">
            <a:avLst/>
          </a:prstGeom>
          <a:solidFill>
            <a:srgbClr val="7AD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52360" y="1078992"/>
            <a:ext cx="435254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1078992"/>
            <a:ext cx="435254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16952" y="1188719"/>
            <a:ext cx="402335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each one 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16952" y="1554480"/>
            <a:ext cx="4023359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200: the tide. On the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it is the larger swing.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50: the swing itself.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20: the short push.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three on the 15m,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for the entry only.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Best lineup: the wall and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average in the same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place, and the close agrees.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 average is not a wall.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wall is not an average.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 or put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Upside break.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fade of the put wall,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positive gamma.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call.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call debit spread.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long premium.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Downside break.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fade of the call wall,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positive gamma.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put.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a put debit spread.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never the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naked short.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Single contract, or a debit spread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365760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365760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98448"/>
            <a:ext cx="329184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68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Ask three</a:t>
            </a:r>
          </a:p>
          <a:p>
            <a:pPr algn="l">
              <a:lnSpc>
                <a:spcPts val="3068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606040"/>
            <a:ext cx="3291840" cy="30175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fast is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move?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Is IV cheap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rich?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 you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 it?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60520" y="3246120"/>
            <a:ext cx="365760" cy="292608"/>
          </a:xfrm>
          <a:prstGeom prst="rightArrow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078992"/>
            <a:ext cx="709574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1078992"/>
            <a:ext cx="709574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1188719"/>
            <a:ext cx="676655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Single long call or 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1554480"/>
            <a:ext cx="6766559" cy="17282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 or large move. IV is cheap. You can manage the trade.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Risk is the premium. The working exit is a candle close.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611880"/>
            <a:ext cx="7095744" cy="254203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9160" y="3611880"/>
            <a:ext cx="7095744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3721608"/>
            <a:ext cx="676655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Debit spread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3752" y="4087368"/>
            <a:ext cx="6766559" cy="193852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Slower move. IV is rich. Or you cannot watch it.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pay a smaller debit. You cap the gain at the short strike.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short leg is covered by the long leg. Not a naked short.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the single contract 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7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Fast or 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8" y="128016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need the option to keep paying if price runs past a wall.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0487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04872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253288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IV is cheap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60604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are not paying a rich premium for a move that may be slow.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730752"/>
            <a:ext cx="11420856" cy="120700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73075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" y="38587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You can manage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393192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can take the candle-close exit. If you cannot watch, use the spread.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5074920"/>
            <a:ext cx="11420856" cy="11155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5074920"/>
            <a:ext cx="11420856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5212080"/>
            <a:ext cx="10981944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Hard risk is the premium. You cannot lose more than you paid.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candle-close stop hits first, the loss is whatever the option is worth then, up to that premium.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When the debit spread 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704088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704088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126187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Same expiry. The short strike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is further out, and covered.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103120"/>
            <a:ext cx="2880360" cy="1051560"/>
          </a:xfrm>
          <a:prstGeom prst="rect">
            <a:avLst/>
          </a:prstGeom>
          <a:solidFill>
            <a:srgbClr val="14352F"/>
          </a:solidFill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212848"/>
            <a:ext cx="26974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 the nearer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strike. You are long.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703320" y="2450592"/>
            <a:ext cx="411480" cy="274320"/>
          </a:xfrm>
          <a:prstGeom prst="rightArrow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103120"/>
            <a:ext cx="2880360" cy="1051560"/>
          </a:xfrm>
          <a:prstGeom prst="rect">
            <a:avLst/>
          </a:prstGeom>
          <a:solidFill>
            <a:srgbClr val="1A2838"/>
          </a:solidFill>
          <a:ln w="15875">
            <a:solidFill>
              <a:srgbClr val="8EB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212848"/>
            <a:ext cx="2697480" cy="8229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 the further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strike. Covered.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383280"/>
            <a:ext cx="6492240" cy="2468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spread: buy a call, sell a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further call.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spread: buy a put, sell a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further put.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Max loss is the debit.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Past the short strike, you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get paid more.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078992"/>
            <a:ext cx="4215384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0" y="1078992"/>
            <a:ext cx="421538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54112" y="1188719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Use it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4112" y="1554480"/>
            <a:ext cx="3886200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move is slower.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is rich.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you cannot watch.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One caution. These are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American options.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short leg can be assigned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early. Know the broker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rule before you hold a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spread into expiry.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Payoff at expiry, single versus spread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48</a:t>
            </a:r>
          </a:p>
        </p:txBody>
      </p:sp>
      <p:pic>
        <p:nvPicPr>
          <p:cNvPr id="10" name="Picture 9" descr="pay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6720840" cy="40048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178040" y="1097280"/>
            <a:ext cx="4626864" cy="41605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097280"/>
            <a:ext cx="462686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1" y="1207007"/>
            <a:ext cx="4297679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example debits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1" y="1572768"/>
            <a:ext cx="4297679" cy="35570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21 days. IV 25%.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100. Rate 4%.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No dividend.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100 call: 2.51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100/105 spread: 1.74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Spread max gain: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3.26 per share.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326 dollars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989320"/>
            <a:ext cx="11420856" cy="4114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Black-Scholes prices, then the expiry payoff of those debits. Per share. A contract is times 100. Not a forecast.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rich IV does to the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042415"/>
            <a:ext cx="114208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Same 21-day 100/105 call spread. Spot 100. Rate 4%. No dividend. Only IV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057400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ATM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50876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IV 18%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05740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2057400"/>
            <a:ext cx="37947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05740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150876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IV 40%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205740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2057400"/>
            <a:ext cx="37947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19" y="205740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291840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Spread debit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329184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6160" y="3291840"/>
            <a:ext cx="37947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329184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1.52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329184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35240" y="3291840"/>
            <a:ext cx="37947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19" y="329184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1.95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526280"/>
            <a:ext cx="301752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Spread max gain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452628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66160" y="4526280"/>
            <a:ext cx="37947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49039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3.48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4526280"/>
            <a:ext cx="3794760" cy="10515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4526280"/>
            <a:ext cx="37947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19" y="4526280"/>
            <a:ext cx="3429000" cy="1051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3.05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5852160"/>
            <a:ext cx="11420856" cy="5486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single call more than doubles. The spread debit rises less. Rich IV is why the spread is the fit when the move is not a fast one you must keep open.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Place the contract on the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7772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01852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picture of the October 16 book. Not an order. You still check IV, and you still write your own dollars.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011680"/>
            <a:ext cx="5623560" cy="41148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011680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121408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side, through 760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87168"/>
            <a:ext cx="5294376" cy="35112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Fast, IV cheap, you can watch: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put.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Slow, IV rich, or you cannot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watch: put debit spread.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strike near the money,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or near the level that has to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work. Short strike further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out, at a target you can name.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2011680"/>
            <a:ext cx="5623560" cy="41148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2011680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21408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Call side, through 775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487168"/>
            <a:ext cx="5294376" cy="35112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close also crosses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flip. Re-read first.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If the new book is a long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idea: same fork.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if it is fast and you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 watch. Spread if IV is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rich or you cannot.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sell a strike the long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leg does not cover.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delta, mid delta, low delta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51</a:t>
            </a:r>
          </a:p>
        </p:txBody>
      </p:sp>
      <p:pic>
        <p:nvPicPr>
          <p:cNvPr id="10" name="Picture 9" descr="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537960" cy="396636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03720" y="1078992"/>
            <a:ext cx="4892040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68312" y="1170432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High    0.82    strike 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1536192"/>
            <a:ext cx="461772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Costs more. Moves like the stock.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5.81 a share. About 82 shares of exposure.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2679191"/>
            <a:ext cx="4892040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68312" y="2770632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Mid    0.53    strike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8312" y="3136391"/>
            <a:ext cx="461772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0.40 to 0.60. Reacts fast.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2.51 a share. About 53 shares of 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4279392"/>
            <a:ext cx="4892040" cy="148132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68312" y="4370831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Low    0.18    strike 106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4736592"/>
            <a:ext cx="4617720" cy="8686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Cheap. Needs a big move. Often expires worthless.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About 0.58 a share. About 18 shares of exposure.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053328"/>
            <a:ext cx="11420856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EXAMPLE. 21 days, IV 25%, spot 100, rate 4%, no dividend. Exposure is delta times 100 shares, on a small move. You do not buy the shares.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Delta, ignoring the 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2344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981944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Delta (ignoring the sign) is roughly the chance the option finishes in the money.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487168"/>
            <a:ext cx="5623560" cy="2148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487168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Call delta +0.45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154680"/>
            <a:ext cx="5212080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Ignore the plus.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Read it as about a 45 percent chance.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2487168"/>
            <a:ext cx="5623560" cy="21488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2487168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Put delta -0.45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54680"/>
            <a:ext cx="5212080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Ignore the minus.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read. About 45 percent.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4800600"/>
            <a:ext cx="11420856" cy="138988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4800600"/>
            <a:ext cx="11420856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4956048"/>
            <a:ext cx="10981944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Rough guide. Closer on short-dated options.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 the model, the chance of finishing in the money is a nearby number, not this one.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Use it to plan. Do not treat it as exact.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Theta is decay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53</a:t>
            </a:r>
          </a:p>
        </p:txBody>
      </p:sp>
      <p:pic>
        <p:nvPicPr>
          <p:cNvPr id="10" name="Picture 9" descr="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24128"/>
            <a:ext cx="6812280" cy="398876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223760" y="1078992"/>
            <a:ext cx="4572000" cy="47091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23760" y="1078992"/>
            <a:ext cx="457200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8352" y="1188719"/>
            <a:ext cx="424281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What the curves say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8352" y="1554480"/>
            <a:ext cx="4242816" cy="4105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held at 100.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25%. EXAMPLE.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call, 45 days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 1 day: 3.74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 0.53.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100/105 spread: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1.97 to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0.53.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single gives up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more dollars. The curve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steepens into expiry.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With a day left, the 105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call is nearly worthless,</a:t>
            </a:r>
          </a:p>
          <a:p>
            <a:pPr algn="l">
              <a:lnSpc>
                <a:spcPts val="1623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so the two meet.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053328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You pay theta every day you are long. Less decay is not a reason to hold a wrong idea.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IV crush is a fast drop in IV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54</a:t>
            </a:r>
          </a:p>
        </p:txBody>
      </p:sp>
      <p:pic>
        <p:nvPicPr>
          <p:cNvPr id="10" name="Picture 9" descr="cru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37960" cy="4098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1097280"/>
            <a:ext cx="4709160" cy="47091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1097280"/>
            <a:ext cx="47091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207007"/>
            <a:ext cx="43799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three bars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1192" y="1572768"/>
            <a:ext cx="4379976" cy="41056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14-day ATM call.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Start, IV 50%: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3.98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stays 100,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falls to 25%: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2.03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Spot rises to 102,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falls to 25%: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3.23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stock rose.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call still fell.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989320"/>
            <a:ext cx="11420856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B4BECC"/>
                </a:solidFill>
                <a:latin typeface="Liberation Sans"/>
                <a:ea typeface="Liberation Sans"/>
                <a:cs typeface="Liberation Sans"/>
              </a:rPr>
              <a:t>Often after an event. The option can lose value even if the stock stays flat, or rises. Black-Scholes, rate 4%, no dividend.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Earnings, and the rare 0DTE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Earnings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IV is commonly bid up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into the report, then it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drops. That drop is crush.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Check the actual IV.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assume it.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Rich IV, or you cannot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watch: debit spread.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Cheap IV, a fast move,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and you can watch: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contract.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50749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447141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This is the 1-day spike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on the gamma chart.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Theta is gone by the close.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Occasional, and only when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can manage that close.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playbook. Same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candle close. Same cash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debit. No naked short.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use the 0DTE</a:t>
            </a:r>
          </a:p>
          <a:p>
            <a:pPr algn="l">
              <a:lnSpc>
                <a:spcPts val="2088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column as the swing map.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stop follows the regime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2356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Positive gamma fade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5294376" cy="2276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stop sits beyond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rejection high, or the low.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exit when a candle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through that price.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through it is 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exit.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78992"/>
            <a:ext cx="5623560" cy="288036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78992"/>
            <a:ext cx="5623560" cy="50292"/>
          </a:xfrm>
          <a:prstGeom prst="rect">
            <a:avLst/>
          </a:prstGeom>
          <a:solidFill>
            <a:srgbClr val="FF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188719"/>
            <a:ext cx="529437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 gamma break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1554480"/>
            <a:ext cx="5294376" cy="22768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exit when a 4h candle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closes back inside the range.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break failed.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wick back inside is 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exit. The close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133087"/>
            <a:ext cx="11420856" cy="20299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133087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4297680"/>
            <a:ext cx="10981944" cy="17190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Both regimes: the hard ceiling on the loss is the debit you paid.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candle close is how you leave when the idea is wrong, before the option is worth zero.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Do not move the stop farther once that close has already killed the idea.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Pick the stop before you enter. Write it down. Do not switch it after you are 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 choose the 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11420856" cy="14173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1142085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3" y="1243584"/>
            <a:ext cx="10981944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Every trade, you write the dollars you are willing to lose.</a:t>
            </a:r>
          </a:p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This deck will not give you a percent of the account. It will not give you a dollar amount.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651760"/>
            <a:ext cx="7040880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4048" y="2651760"/>
            <a:ext cx="704088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2816352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8EBEFF"/>
                </a:solidFill>
                <a:latin typeface="Liberation Sans"/>
                <a:ea typeface="Liberation Sans"/>
                <a:cs typeface="Liberation Sans"/>
              </a:rPr>
              <a:t>The only math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246120"/>
            <a:ext cx="6675120" cy="1463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Your dollars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  /  (option price  x  100)</a:t>
            </a:r>
          </a:p>
          <a:p>
            <a:pPr algn="l">
              <a:lnSpc>
                <a:spcPts val="2595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  =  contracts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651760"/>
            <a:ext cx="4215384" cy="23317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0" y="2651760"/>
            <a:ext cx="4215384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2761488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EXAMPLE arithmetic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4112" y="3127248"/>
            <a:ext cx="3886200" cy="17282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You wrote 400.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Debit is 2.00.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2.00 x 100 = 200.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400 / 200 = 2 contracts.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Replace 400. It is not</a:t>
            </a:r>
          </a:p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suggestion.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120640"/>
            <a:ext cx="11420856" cy="10972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At a stop before expiry the option may still have value. It may not, if the move was violent or time is gone.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 willing to lose the debit. In negative gamma the invalidation can sit back at the other side of the range.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Measure that room, then do the division. The same dollars buy fewer contracts when the debit is large.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Flow, dark pool, and the dollars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3703320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3703320" cy="50292"/>
          </a:xfrm>
          <a:prstGeom prst="rect">
            <a:avLst/>
          </a:prstGeom>
          <a:solidFill>
            <a:srgbClr val="C9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19"/>
            <a:ext cx="337413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Options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54480"/>
            <a:ext cx="3374136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Large prints at a wall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carry more weight than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prints in the middle.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Weight. Not the entry.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close is the entry.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3703320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078992"/>
            <a:ext cx="3703320" cy="50292"/>
          </a:xfrm>
          <a:prstGeom prst="rect">
            <a:avLst/>
          </a:prstGeom>
          <a:solidFill>
            <a:srgbClr val="8EB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188719"/>
            <a:ext cx="3374136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Dark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1554480"/>
            <a:ext cx="3374136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Large stock prints near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wall add weight to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that wall.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/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Same rule.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Weight, not a trigger.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39327" y="1078992"/>
            <a:ext cx="3465576" cy="324612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39327" y="1078992"/>
            <a:ext cx="3465576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9" y="1188719"/>
            <a:ext cx="3136392" cy="34747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a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1554480"/>
            <a:ext cx="3136392" cy="264261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print does not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replace the 4h close,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regime, or the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 you already</a:t>
            </a:r>
          </a:p>
          <a:p>
            <a:pPr algn="l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marked.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4480560"/>
            <a:ext cx="11420856" cy="169164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4480560"/>
            <a:ext cx="11420856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4617720"/>
            <a:ext cx="1101852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Always the dollar premium. Price x contracts x 100.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010912"/>
            <a:ext cx="1101852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EXAMPLE.  2.00 x 500 x 100 = 100,000 dollars.    12.00 x 80 x 100 = 96,000 dollars.</a:t>
            </a:r>
          </a:p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Similar money. Very different if you only count contracts. Read the dollars.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OCTOBER 16,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Run that book through the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60704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060704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Not in this example. You still write your dollars. Do not skip the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773936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773936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773936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56816" y="1773936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Put wall 760. Call wall 775. Flip about 774.5. Spot about 763.2.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487168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487168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487168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6" y="2487168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Negative. Spot is under the flip. Do not fade the 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200400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00400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00400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4h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6816" y="3200400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range was 760 to 775. It matched the walls.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3913632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913632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913632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3913632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Wait. Close through 760: go with the put. Hold above 775: re-read.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626864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626864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626864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56816" y="4626864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Fast and cheap IV and you can watch: single. Else a debit spread. Check IV. It is not given here.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340096"/>
            <a:ext cx="1142085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340096"/>
            <a:ext cx="1417320" cy="640080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340096"/>
            <a:ext cx="1417320" cy="640080"/>
          </a:xfrm>
          <a:prstGeom prst="rect">
            <a:avLst/>
          </a:prstGeom>
          <a:noFill/>
        </p:spPr>
        <p:txBody>
          <a:bodyPr wrap="square" lIns="36576" rIns="36576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Stop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6816" y="5340096"/>
            <a:ext cx="9683496" cy="640080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A 4h close back inside. Hard risk is the debit. Flow is weight, in dollars, at the walls.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Before you enter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6070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52144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Regime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57276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151790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Month noted. Your dollars are written down.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93852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188366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 marked. You know which side spot is 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0428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24942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Positive: fade only. Negative: break only.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106070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106070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1152144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Levels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4224" y="157276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151790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 and call wall, from open interest.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4224" y="193852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188366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Cross-checked on a second public source.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230428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224942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4h range drawn. You know if it matches.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366674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4048" y="366674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758183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Trigger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178807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12394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Watch is 1-2% out. Distance, not risk.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4456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48970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Entry alert is a 4h or daily close.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910327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85546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zone is a band. You are not inside 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27608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22122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15m break, or a strong 4h close.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641847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586983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Price, averages, level, news, flow agree.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3666744"/>
            <a:ext cx="5632704" cy="2487168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81344" y="3666744"/>
            <a:ext cx="5632704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45936" y="3758183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Contract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64224" y="4178807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01968" y="412394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Single or spread: speed, IV, and attention.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64224" y="454456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448970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= your dollars / the debit.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64224" y="4910327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01968" y="485546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Stop is a candle close. You can say where.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64224" y="5276088"/>
            <a:ext cx="146304" cy="146304"/>
          </a:xfrm>
          <a:prstGeom prst="rect">
            <a:avLst/>
          </a:prstGeom>
          <a:noFill/>
          <a:ln w="15875">
            <a:solidFill>
              <a:srgbClr val="3DD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01968" y="522122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debit only. No naked short.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Easy ways to get this wrong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7899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7899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07899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07899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Treating the flip as support.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792224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1792224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" y="1792224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1792224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Fading a wall while spot is under the flip.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2505456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2505456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505456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2505456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Buying a breakout while spot is over the flip.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218687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218687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218687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3218687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Entering on a touch, or on a wick.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3931920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" y="3931920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931920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3931920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Reading the heatmap as put gamma.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464515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464515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464515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64515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Looking for a put-wall line on the by-strike chart.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5358383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" y="5358383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358383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358383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Looking for a flip line on the by-strike chart.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1344" y="107899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07899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107899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107899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Setting a swing level from Directionalized Volume.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1792224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81344" y="1792224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81344" y="1792224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1792224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Counting contracts and skipping the dollars.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1344" y="2505456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81344" y="2505456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81344" y="2505456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2505456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Chasing a poke that closed back inside.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81344" y="3218687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1344" y="3218687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1344" y="3218687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218687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Keeping the old plan after a close outside has held.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81344" y="3931920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81344" y="3931920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81344" y="3931920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3931920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Selling options naked, or using margin.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81344" y="4645152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81344" y="4645152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81344" y="4645152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4645152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Letting a 15m break overrule the 4h.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81344" y="5358383"/>
            <a:ext cx="5632704" cy="621792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81344" y="5358383"/>
            <a:ext cx="566928" cy="621792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81344" y="5358383"/>
            <a:ext cx="566928" cy="6217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US">
                <a:solidFill>
                  <a:srgbClr val="FF7676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0" y="5358383"/>
            <a:ext cx="4800600" cy="621792"/>
          </a:xfrm>
          <a:prstGeom prst="rect">
            <a:avLst/>
          </a:prstGeom>
          <a:noFill/>
        </p:spPr>
        <p:txBody>
          <a:bodyPr wrap="square" lIns="54864" rIns="73152" tIns="0" bIns="0"/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Copying the dealer by shorting stock.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6070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06070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106070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Share count for the dealer. For you, how the option tracks the stock.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170078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70078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Gamma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2888" y="170078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fast delta changes as the stock price moves.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340863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340863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Theta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2888" y="2340863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Decay. The value time takes out of a long option.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98094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98094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Vega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2888" y="298094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How much the option price changes when IV changes.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62102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62102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362102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volatility implied by the option's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26110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426110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IV crush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26110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 fast drop in IV, often after an event. The option can lose value anyway.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901183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4901183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Charm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2888" y="4901183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Delta's change as time passes. Price and IV held still. Textbook only.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5541264"/>
            <a:ext cx="1965960" cy="566928"/>
          </a:xfrm>
          <a:prstGeom prst="rect">
            <a:avLst/>
          </a:prstGeom>
          <a:solidFill>
            <a:srgbClr val="22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5541264"/>
            <a:ext cx="1965960" cy="566928"/>
          </a:xfrm>
          <a:prstGeom prst="rect">
            <a:avLst/>
          </a:prstGeom>
          <a:noFill/>
        </p:spPr>
        <p:txBody>
          <a:bodyPr wrap="square" lIns="54864" rIns="54864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Vanna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32888" y="5541264"/>
            <a:ext cx="9144000" cy="566928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Delta's change as IV changes. Price held still. Textbook only.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GLOSSARY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levels and the 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42415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07899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Call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335024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Heavy call open interest above spot. Resistance.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1755648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179222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Put wall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" y="2048255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Heavy put open interest below spot. Support. Longest purple bar under spot.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2468880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" y="2505456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Flip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2761488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Where net gamma changes sign. A behavior change. Not support.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182111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3218687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Positive gamma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3474719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Above the flip. Dealers fade the move. Price can range and pin.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895344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" y="393192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Negative gamma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4187952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Below the flip. Dealers chase. Price can trend and accelerate.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608576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" y="464515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Open interest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4901184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Contracts still open. The swing book. Walls and regime.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5321807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" y="5358383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Directionalized Volume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" y="5614416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Today's flow. The intraday view. Not the swing map.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1042415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54496" y="107899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4496" y="1335024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Price sticking near a heavy strike while the hedges lean back in.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1755648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79222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OPEX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4496" y="2048255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Expiration. A large expiry resets the walls. Read the book again.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2468880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2505456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Debit spread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4496" y="2761488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Long one option, short a further strike, same expiry. Max loss is the debit.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44768" y="3182111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3218687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Premium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496" y="3474719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price you pay. The hard risk on a long call, long put, or debit spread.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95344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54496" y="393192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0DTE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4496" y="4187952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Expires the same day. Extreme gamma. Extreme theta. Occasional only.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44768" y="4608576"/>
            <a:ext cx="5614416" cy="6400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464515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Candle close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4496" y="4901184"/>
            <a:ext cx="539496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The bar has finished. The only alert that counts in this deck.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E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"/>
            <a:ext cx="11338560" cy="2194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94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The whole swing on one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822960"/>
            <a:ext cx="457200" cy="25603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7" y="828446"/>
            <a:ext cx="10963656" cy="10972"/>
          </a:xfrm>
          <a:prstGeom prst="rect">
            <a:avLst/>
          </a:prstGeom>
          <a:solidFill>
            <a:srgbClr val="31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6547104"/>
            <a:ext cx="7498079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Gamma swing  -  Dominic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547104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lnSpc>
                <a:spcPts val="1416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US">
                <a:solidFill>
                  <a:srgbClr val="A8B3C2"/>
                </a:solidFill>
                <a:latin typeface="Liberation Sans"/>
                <a:ea typeface="Liberation Sans"/>
                <a:cs typeface="Liberation Sans"/>
              </a:rPr>
              <a:t>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1042415"/>
            <a:ext cx="5623560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1042415"/>
            <a:ext cx="5623560" cy="50292"/>
          </a:xfrm>
          <a:prstGeom prst="rect">
            <a:avLst/>
          </a:prstGeom>
          <a:solidFill>
            <a:srgbClr val="3DD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5214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3DDCB0"/>
                </a:solidFill>
                <a:latin typeface="Liberation Sans"/>
                <a:ea typeface="Liberation Sans"/>
                <a:cs typeface="Liberation Sans"/>
              </a:rPr>
              <a:t>Do it in this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36192"/>
            <a:ext cx="5257800" cy="4069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  Note the month. Write your dollars.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2  Mark put wall, call wall, flip, spot.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3  Cross-check the three levels.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4  Draw the 4h range on the walls.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5  Above the flip: fade a rejection close.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6  Below the flip: trade the 4h break.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7  Fast, cheap IV, you can watch: single.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8  Otherwise: a debit spread.</a:t>
            </a:r>
          </a:p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9  Stop on a candle close. Risk is the debit.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42415"/>
            <a:ext cx="5623560" cy="475488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42415"/>
            <a:ext cx="5623560" cy="50292"/>
          </a:xfrm>
          <a:prstGeom prst="rect">
            <a:avLst/>
          </a:prstGeom>
          <a:solidFill>
            <a:srgbClr val="E6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115214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US">
                <a:solidFill>
                  <a:srgbClr val="E6B54A"/>
                </a:solidFill>
                <a:latin typeface="Liberation Sans"/>
                <a:ea typeface="Liberation Sans"/>
                <a:cs typeface="Liberation Sans"/>
              </a:rPr>
              <a:t>Keep these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1536192"/>
            <a:ext cx="5257800" cy="4069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Flip: behavior change. Not support.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Walls: call resistance, put support.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Heatmap color: net gamma.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Put wall: longest purple bar below spot.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By-strike draws call wall and spot only.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Open interest: swing. Volume: today.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Alert on the close. Never a touch.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1-2% watch is distance, not risk.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Inside the band, stay quiet.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15m times the entry. 4h decides.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en-US">
                <a:solidFill>
                  <a:srgbClr val="D5DDE8"/>
                </a:solidFill>
                <a:latin typeface="Liberation Sans"/>
                <a:ea typeface="Liberation Sans"/>
                <a:cs typeface="Liberation Sans"/>
              </a:rPr>
              <a:t>Cash only. No naked short.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5925312"/>
            <a:ext cx="11420856" cy="457200"/>
          </a:xfrm>
          <a:prstGeom prst="rect">
            <a:avLst/>
          </a:prstGeom>
          <a:solidFill>
            <a:srgbClr val="171D28"/>
          </a:solidFill>
          <a:ln w="12700">
            <a:solidFill>
              <a:srgbClr val="313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5925312"/>
            <a:ext cx="11420856" cy="457200"/>
          </a:xfrm>
          <a:prstGeom prst="rect">
            <a:avLst/>
          </a:prstGeom>
          <a:noFill/>
        </p:spPr>
        <p:txBody>
          <a:bodyPr wrap="square" tIns="0" bIns="0"/>
          <a:lstStyle/>
          <a:p>
            <a:pPr algn="ctr">
              <a:lnSpc>
                <a:spcPts val="177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US">
                <a:solidFill>
                  <a:srgbClr val="F4F7FB"/>
                </a:solidFill>
                <a:latin typeface="Liberation Sans"/>
                <a:ea typeface="Liberation Sans"/>
                <a:cs typeface="Liberation Sans"/>
              </a:rPr>
              <a:t>Dealers hedge. Gamma shows the push. You act on the close. You choose the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Gamma Swing Trading</dc:title>
  <dc:subject>Dealer gamma, walls, and candle-close swings</dc:subject>
  <dc:creator>For Dominic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