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2000" cy="6858000" type="screen16x9"/>
  <p:notesSz cx="6858000" cy="9144000"/>
  <p:embeddedFontLst>
    <p:embeddedFont>
      <p:font typeface="Liberation Sans" pitchFamily="34" charset="0"/>
      <p:regular r:id="rId71"/>
      <p:bold r:id="rId7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font" Target="fonts/font1.fntdata"/><Relationship Id="rId7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Dealer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554480"/>
            <a:ext cx="6766560" cy="841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Gamma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359152"/>
            <a:ext cx="685800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Swing Trading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72384"/>
            <a:ext cx="1874519" cy="29260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653796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How the hedge pushes price.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premium, short premium, and defined-risk spreads.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walls, the flip, and the limits of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72000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Open Interest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4841" y="4572000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4841" y="4572000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6763" y="4572000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6763" y="4572000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8686" y="4572000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8686" y="4572000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33881" y="5047488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3881" y="5047488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Gamma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5803" y="5047488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5803" y="5047488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Short Gamma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7725" y="5047488"/>
            <a:ext cx="1552194" cy="365760"/>
          </a:xfrm>
          <a:prstGeom prst="roundRect">
            <a:avLst>
              <a:gd name="adj" fmla="val 50000"/>
            </a:avLst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7725" y="5047488"/>
            <a:ext cx="1552194" cy="36576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Spreads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96128"/>
            <a:ext cx="65379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October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8" y="658368"/>
            <a:ext cx="4261104" cy="2528315"/>
          </a:xfrm>
          <a:prstGeom prst="rect">
            <a:avLst/>
          </a:prstGeom>
          <a:solidFill>
            <a:srgbClr val="14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804672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Positive Gamma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1097280"/>
            <a:ext cx="371246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Sell rallies. Buy dips.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750808" y="1618488"/>
            <a:ext cx="310896" cy="384048"/>
          </a:xfrm>
          <a:prstGeom prst="down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10122408" y="1618488"/>
            <a:ext cx="310896" cy="384048"/>
          </a:xfrm>
          <a:prstGeom prst="up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2048256"/>
            <a:ext cx="868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Sell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2048256"/>
            <a:ext cx="868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Buy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2747771"/>
            <a:ext cx="371246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ranges and pins.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16368" y="3186683"/>
            <a:ext cx="4261104" cy="475488"/>
          </a:xfrm>
          <a:prstGeom prst="rect">
            <a:avLst/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6368" y="3186683"/>
            <a:ext cx="4261104" cy="475488"/>
          </a:xfrm>
          <a:prstGeom prst="rect">
            <a:avLst/>
          </a:prstGeom>
          <a:noFill/>
        </p:spPr>
        <p:txBody>
          <a:bodyPr wrap="square" lIns="109728" rIns="109728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Flip: Behavior Changes Here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662171"/>
            <a:ext cx="4261104" cy="2528315"/>
          </a:xfrm>
          <a:prstGeom prst="rect">
            <a:avLst/>
          </a:prstGeom>
          <a:solidFill>
            <a:srgbClr val="3A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3808475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Negative Gamma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4101083"/>
            <a:ext cx="3712464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Buy rallies. Sell dips.</a:t>
            </a:r>
          </a:p>
        </p:txBody>
      </p:sp>
      <p:sp>
        <p:nvSpPr>
          <p:cNvPr id="37" name="Up Arrow 36"/>
          <p:cNvSpPr/>
          <p:nvPr/>
        </p:nvSpPr>
        <p:spPr>
          <a:xfrm>
            <a:off x="8750808" y="4622291"/>
            <a:ext cx="310896" cy="384048"/>
          </a:xfrm>
          <a:prstGeom prst="up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10122408" y="4622291"/>
            <a:ext cx="310896" cy="384048"/>
          </a:xfrm>
          <a:prstGeom prst="down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5052059"/>
            <a:ext cx="868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Buy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5052059"/>
            <a:ext cx="868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Sell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5751575"/>
            <a:ext cx="3712464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trends and accelerates.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8" y="658368"/>
            <a:ext cx="4261104" cy="5532120"/>
          </a:xfrm>
          <a:prstGeom prst="rect">
            <a:avLst/>
          </a:prstGeom>
          <a:noFill/>
          <a:ln w="15875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Read It as a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3697224" cy="2880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369722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7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You 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45920"/>
            <a:ext cx="3294888" cy="216712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dealer hedge, the flip,</a:t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and the walls.</a:t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How long gamma and short</a:t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gamma differ.</a:t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3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Where the model stops.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1078992"/>
            <a:ext cx="3697224" cy="2880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5864" y="1078992"/>
            <a:ext cx="36972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7032" y="1207007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This Is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032" y="1876805"/>
            <a:ext cx="3294888" cy="17053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No win rate.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No backtest.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No invented track record.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Example numbers are marked.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680" y="1078992"/>
            <a:ext cx="3697224" cy="2880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80" y="1078992"/>
            <a:ext cx="369722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8" y="1207007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Stays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1709928"/>
            <a:ext cx="3294888" cy="20391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Dealers hedge with the stock.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Gamma is how fast delta changes.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wick and a close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are different prints.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133087"/>
            <a:ext cx="2079345" cy="10515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133087"/>
            <a:ext cx="2079345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4426965"/>
            <a:ext cx="1823313" cy="2189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4655057"/>
            <a:ext cx="1823313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Regime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81681" y="4535424"/>
            <a:ext cx="219456" cy="219456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9425" y="4133087"/>
            <a:ext cx="2079345" cy="10515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19425" y="4133087"/>
            <a:ext cx="2079345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7441" y="4426965"/>
            <a:ext cx="1823313" cy="2189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7441" y="4655057"/>
            <a:ext cx="1823313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Walls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17059" y="4535424"/>
            <a:ext cx="219456" cy="219456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54803" y="4133087"/>
            <a:ext cx="2079345" cy="10515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54803" y="4133087"/>
            <a:ext cx="2079345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2819" y="4426965"/>
            <a:ext cx="1823313" cy="2189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2819" y="4655057"/>
            <a:ext cx="1823313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152436" y="4535424"/>
            <a:ext cx="219456" cy="219456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90180" y="4133087"/>
            <a:ext cx="2079345" cy="10515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90180" y="4133087"/>
            <a:ext cx="2079345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8196" y="4426965"/>
            <a:ext cx="1823313" cy="2189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8196" y="4655057"/>
            <a:ext cx="1823313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Structure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487814" y="4535424"/>
            <a:ext cx="219456" cy="219456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25558" y="4133087"/>
            <a:ext cx="2079345" cy="10515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25558" y="4133087"/>
            <a:ext cx="2079345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3574" y="4426965"/>
            <a:ext cx="1823313" cy="2189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0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3574" y="4655057"/>
            <a:ext cx="1823313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5358384"/>
            <a:ext cx="11420856" cy="89611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5358384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5486400"/>
            <a:ext cx="11055096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Numbers that are not the October 16, 2026 SPY book are marked EXAMPLE.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Charts are Black-Scholes. The inputs are printed on the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a Gamma Read 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7406640" cy="80162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1554480" cy="801623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060704"/>
            <a:ext cx="1554480" cy="801623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1060704"/>
            <a:ext cx="5559552" cy="801623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Open interest by strike. That is the swing map.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953768"/>
            <a:ext cx="7406640" cy="80162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953768"/>
            <a:ext cx="1554480" cy="801623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953768"/>
            <a:ext cx="1554480" cy="801623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1953768"/>
            <a:ext cx="5559552" cy="801623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Where price sits against that 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46832"/>
            <a:ext cx="7406640" cy="80162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846832"/>
            <a:ext cx="1554480" cy="801623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846832"/>
            <a:ext cx="1554480" cy="801623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2" y="2846832"/>
            <a:ext cx="5559552" cy="801623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Where net gamma changes 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739896"/>
            <a:ext cx="7406640" cy="80162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739896"/>
            <a:ext cx="1554480" cy="801623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739896"/>
            <a:ext cx="1554480" cy="801623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Walls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2" y="3739896"/>
            <a:ext cx="5559552" cy="801623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heavy call strike above. The heavy put strike below.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632960"/>
            <a:ext cx="7406640" cy="80162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4632960"/>
            <a:ext cx="1554480" cy="801623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632960"/>
            <a:ext cx="1554480" cy="801623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2" y="4632960"/>
            <a:ext cx="5559552" cy="801623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second public source, when you have 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5526024"/>
            <a:ext cx="7406640" cy="80162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5526024"/>
            <a:ext cx="1554480" cy="801623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526024"/>
            <a:ext cx="1554480" cy="801623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2" y="5526024"/>
            <a:ext cx="5559552" cy="801623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Price, so a close can be told from a wick.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1060704"/>
            <a:ext cx="3849624" cy="526694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1060704"/>
            <a:ext cx="384962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9" y="1261872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Dealer Gamma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1627631"/>
            <a:ext cx="3483864" cy="1691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Their hedge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in the stock.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Positive: they fade.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Negative: they chase.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11311" y="3694176"/>
            <a:ext cx="3337560" cy="13716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59" y="3840480"/>
            <a:ext cx="3483864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Your Gamma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9" y="4187952"/>
            <a:ext cx="3483864" cy="173736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options: long gamma.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Short options: short gamma.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two books can match,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or they can oppose.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Gamma Shows Where the Hedge Pushes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170432"/>
            <a:ext cx="2608326" cy="1783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260832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686560"/>
            <a:ext cx="2352294" cy="233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2352294" cy="498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Customers trade</a:t>
            </a:r>
          </a:p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options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28950" y="1920240"/>
            <a:ext cx="256032" cy="237744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1558" y="1170432"/>
            <a:ext cx="2608326" cy="1783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1558" y="1170432"/>
            <a:ext cx="260832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9574" y="1686560"/>
            <a:ext cx="2352294" cy="233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9574" y="1965960"/>
            <a:ext cx="2352294" cy="498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take</a:t>
            </a:r>
          </a:p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other side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66459" y="1920240"/>
            <a:ext cx="256032" cy="237744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9068" y="1170432"/>
            <a:ext cx="2608326" cy="1783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9068" y="1170432"/>
            <a:ext cx="260832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7083" y="1686560"/>
            <a:ext cx="2352294" cy="233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7083" y="1965960"/>
            <a:ext cx="2352294" cy="498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hedge</a:t>
            </a:r>
          </a:p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with the stock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03969" y="1920240"/>
            <a:ext cx="256032" cy="237744"/>
          </a:xfrm>
          <a:prstGeom prst="right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6578" y="1170432"/>
            <a:ext cx="2608326" cy="1783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6578" y="1170432"/>
            <a:ext cx="260832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4594" y="1686560"/>
            <a:ext cx="2352294" cy="2336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4594" y="1965960"/>
            <a:ext cx="2352294" cy="4988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Gamma says how</a:t>
            </a:r>
          </a:p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hard that pushes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163824"/>
            <a:ext cx="11420856" cy="960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163824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3" y="3273552"/>
            <a:ext cx="10981944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hedge. Gamma shows where that hedging pushes price.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4315968"/>
            <a:ext cx="3697224" cy="14173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315968"/>
            <a:ext cx="73152" cy="1417320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4727956"/>
            <a:ext cx="3331464" cy="62992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push is pressure from the hedge. It is not a promise.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5864" y="4315968"/>
            <a:ext cx="3697224" cy="14173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45864" y="4315968"/>
            <a:ext cx="73152" cy="1417320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7032" y="4727956"/>
            <a:ext cx="3331464" cy="62992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wick through a level and a close beyond it are different prints.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07680" y="4315968"/>
            <a:ext cx="3697224" cy="14173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07680" y="4315968"/>
            <a:ext cx="73152" cy="1417320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8848" y="4727956"/>
            <a:ext cx="3331464" cy="62992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Your long or short gamma is a separate fact from the dealer 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Dealers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Three Lines on Dealers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11420856" cy="15910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24358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1536192"/>
            <a:ext cx="10963656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"Dealers hold large options positions from institutional and retail trading"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3" y="2084832"/>
            <a:ext cx="10963656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Their book is the other side of that flow. You read the net book, not one order.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798063"/>
            <a:ext cx="11420856" cy="15910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798063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" y="296265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3255263"/>
            <a:ext cx="10963656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"Dealers use the underlying stock to hedge their options positions"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3" y="3803904"/>
            <a:ext cx="10963656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buy or sell shares against the option. That hedge is in the stock you chart.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517136"/>
            <a:ext cx="11420856" cy="15910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517136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4681727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3" y="4974336"/>
            <a:ext cx="10963656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"Delta tells them how many shares they need to stay neutral"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" y="5522975"/>
            <a:ext cx="10963656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Delta is the share count. When delta changes, the count is wrong, so they trade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Delta Is Their Share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6903720" cy="37033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690372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61872"/>
            <a:ext cx="64922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One contract stands for 100 shares.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Exposure is delta times those 100 shares.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103120"/>
            <a:ext cx="288036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103120"/>
            <a:ext cx="32461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103120"/>
            <a:ext cx="2880360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Delta 0.20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64992" y="2286000"/>
            <a:ext cx="201168" cy="256032"/>
          </a:xfrm>
          <a:prstGeom prst="rightArrow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103120"/>
            <a:ext cx="3246120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About 20 Shares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880360"/>
            <a:ext cx="288036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2880360"/>
            <a:ext cx="32461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880360"/>
            <a:ext cx="2880360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Delta 0.50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364992" y="3063240"/>
            <a:ext cx="201168" cy="256032"/>
          </a:xfrm>
          <a:prstGeom prst="rightArrow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880360"/>
            <a:ext cx="3246120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About 50 Shares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3657600"/>
            <a:ext cx="288036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3657600"/>
            <a:ext cx="32461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657600"/>
            <a:ext cx="2880360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Delta 0.80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64992" y="3840480"/>
            <a:ext cx="201168" cy="256032"/>
          </a:xfrm>
          <a:prstGeom prst="rightArrow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657600"/>
            <a:ext cx="3246120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About 80 Shares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1078992"/>
            <a:ext cx="4352544" cy="37033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1078992"/>
            <a:ext cx="435254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1280160"/>
            <a:ext cx="3986784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You Are Not the Dealer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051430"/>
            <a:ext cx="3986784" cy="2243074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48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dealer hedge is in the stock.</a:t>
            </a:r>
          </a:p>
          <a:p>
            <a:pPr algn="ctr">
              <a:lnSpc>
                <a:spcPts val="248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Your position is the option.</a:t>
            </a:r>
          </a:p>
          <a:p>
            <a:pPr algn="ctr">
              <a:lnSpc>
                <a:spcPts val="248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48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One contract is exposure to 100 shares, times delta.</a:t>
            </a:r>
          </a:p>
          <a:p>
            <a:pPr algn="ctr">
              <a:lnSpc>
                <a:spcPts val="2482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That exposure is not the same as holding the shares.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4937760"/>
            <a:ext cx="11420856" cy="129844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937760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5074920"/>
            <a:ext cx="10981944" cy="1024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put with delta -0.50 acts like short 50 shares. You still only own the put.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You did not borrow stock. The sign is direction. The number is size. Later you will ignore the sign on purpose.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Gamma Is How Fast Delta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11420856" cy="10515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207008"/>
            <a:ext cx="10981944" cy="8046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re-hedge when delta changes. Gamma sets how much, and how often.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304288"/>
            <a:ext cx="5623560" cy="26974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304288"/>
            <a:ext cx="5623560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432304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High Gamma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871216"/>
            <a:ext cx="5221224" cy="1984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small move changes delta a lot.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share hedge is rebuilt in size.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Dealers are back in the stock often.</a:t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306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This is the strike, near expiry.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2304288"/>
            <a:ext cx="5623560" cy="26974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304288"/>
            <a:ext cx="562356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432304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Low Gamma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71216"/>
            <a:ext cx="5221224" cy="19842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same move barely changes delta.</a:t>
            </a:r>
          </a:p>
          <a:p>
            <a:pPr algn="l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hedge is a small update.</a:t>
            </a:r>
          </a:p>
          <a:p>
            <a:pPr algn="l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can sit.</a:t>
            </a:r>
          </a:p>
          <a:p>
            <a:pPr algn="l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This is far from the strike, or far from expiry.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166360"/>
            <a:ext cx="11420856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Calls and puts have the same gamma. The sign of the book is a separate question.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next slide is the shape, from the model. The one after that is the share 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Black-Scholes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Gamma Peaks at the Strike, Near Expiry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pic>
        <p:nvPicPr>
          <p:cNvPr id="10" name="Picture 9" descr="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8061"/>
            <a:ext cx="6903720" cy="47967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52360" y="1042415"/>
            <a:ext cx="4352544" cy="112471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042415"/>
            <a:ext cx="73152" cy="112471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456435"/>
            <a:ext cx="4041648" cy="333247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peak is at the money. Here, strike 100.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276856"/>
            <a:ext cx="4352544" cy="112471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276856"/>
            <a:ext cx="73152" cy="112471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542540"/>
            <a:ext cx="4041648" cy="62992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1-day gamma at the peak is about 5.5 times the 30-day peak.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3511296"/>
            <a:ext cx="4352544" cy="112471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3511296"/>
            <a:ext cx="73152" cy="112471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3776980"/>
            <a:ext cx="4041648" cy="62992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7-day gamma at the peak is about 2.1 times the 30-day peak.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4745736"/>
            <a:ext cx="4352544" cy="112471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4745736"/>
            <a:ext cx="73152" cy="112471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5011420"/>
            <a:ext cx="4041648" cy="62992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Far from the strike the line is flat. Little re-hedging.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961888"/>
            <a:ext cx="11420856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Scaled so the 30-day peak is 1.</a:t>
            </a:r>
          </a:p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EXAMPLE. Black-Scholes, European, no dividend. Spot 100, IV 20%, rate 4%. Not a forecast.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Re-Hedge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One Point of Price, Three Hedges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pic>
        <p:nvPicPr>
          <p:cNvPr id="10" name="Picture 9" descr="h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62206"/>
            <a:ext cx="5628132" cy="478845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76772" y="1042415"/>
            <a:ext cx="5628132" cy="235000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6772" y="1042415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1170431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the Bars 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1609344"/>
            <a:ext cx="5225796" cy="16367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EXAMPLE. The dealer is short one ATM call. Strike 100.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goes from 100 to 101.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bars are the shares they must buy to get back to neutral.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32.7, 13.9, and 6.8 shares.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3520440"/>
            <a:ext cx="5628132" cy="235000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6772" y="3520440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7940" y="4250436"/>
            <a:ext cx="5225796" cy="926591"/>
          </a:xfrm>
          <a:prstGeom prst="rect">
            <a:avLst/>
          </a:prstGeom>
          <a:noFill/>
        </p:spPr>
        <p:txBody>
          <a:bodyPr wrap="square" lIns="36576" rIns="54864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Flip the book. If the dealer is long that call, the same sizes are shares they sell. Same gamma. Opposite trade.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961888"/>
            <a:ext cx="11420856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EXAMPLE. Black-Scholes, European, no dividend. IV 20%, rate 4%. Share counts match the bars. Not a forecast.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Two Ways the Hedge Can 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4224528"/>
          </a:xfrm>
          <a:prstGeom prst="rect">
            <a:avLst/>
          </a:prstGeom>
          <a:solidFill>
            <a:srgbClr val="14352F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07007"/>
            <a:ext cx="562813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Positive Gamma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50491"/>
            <a:ext cx="5116068" cy="704088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Above the flip.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sell rallies and buy dips.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237994" y="2615184"/>
            <a:ext cx="384048" cy="475488"/>
          </a:xfrm>
          <a:prstGeom prst="down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3518154" y="2615184"/>
            <a:ext cx="384048" cy="475488"/>
          </a:xfrm>
          <a:prstGeom prst="up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0834" y="34747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5274" y="3474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11320"/>
            <a:ext cx="5116068" cy="62992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ranges, and it can pin.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Pin means price sticks near a heavy strike.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772" y="1060704"/>
            <a:ext cx="5628132" cy="4224528"/>
          </a:xfrm>
          <a:prstGeom prst="rect">
            <a:avLst/>
          </a:prstGeom>
          <a:solidFill>
            <a:srgbClr val="3A2226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6772" y="1207007"/>
            <a:ext cx="562813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Negative Gamma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2804" y="1650491"/>
            <a:ext cx="5116068" cy="704088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Below the flip.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chase the move.</a:t>
            </a:r>
          </a:p>
        </p:txBody>
      </p:sp>
      <p:sp>
        <p:nvSpPr>
          <p:cNvPr id="21" name="Up Arrow 20"/>
          <p:cNvSpPr/>
          <p:nvPr/>
        </p:nvSpPr>
        <p:spPr>
          <a:xfrm>
            <a:off x="8030718" y="2615184"/>
            <a:ext cx="384048" cy="475488"/>
          </a:xfrm>
          <a:prstGeom prst="up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9310878" y="2615184"/>
            <a:ext cx="384048" cy="475488"/>
          </a:xfrm>
          <a:prstGeom prst="down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3558" y="34747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7998" y="3474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Sell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4211320"/>
            <a:ext cx="5116068" cy="62992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can trend, and it can accelerate.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Fades get run over.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431536"/>
            <a:ext cx="11420856" cy="84124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431536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5703824"/>
            <a:ext cx="11018520" cy="333247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This deck reads dealer gamma. Above the flip is positive. Below the flip is negative.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Positive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They Sell the Rally and Buy the Dip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736092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07007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07007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1288" y="2157984"/>
            <a:ext cx="5806440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1288" y="5221224"/>
            <a:ext cx="5806440" cy="2743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179222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53675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99992" y="2322576"/>
            <a:ext cx="384048" cy="475488"/>
          </a:xfrm>
          <a:prstGeom prst="down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2912" y="2341625"/>
            <a:ext cx="288036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Rally into the call wall.</a:t>
            </a:r>
          </a:p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Dealers sell stock.</a:t>
            </a:r>
          </a:p>
        </p:txBody>
      </p:sp>
      <p:sp>
        <p:nvSpPr>
          <p:cNvPr id="19" name="Up Arrow 18"/>
          <p:cNvSpPr/>
          <p:nvPr/>
        </p:nvSpPr>
        <p:spPr>
          <a:xfrm>
            <a:off x="3599992" y="4507992"/>
            <a:ext cx="384048" cy="475488"/>
          </a:xfrm>
          <a:prstGeom prst="up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2912" y="4527042"/>
            <a:ext cx="288036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Dip into the put wall.</a:t>
            </a:r>
          </a:p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Dealers buy stock.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411474"/>
            <a:ext cx="196596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Price stays</a:t>
            </a:r>
          </a:p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in the range.</a:t>
            </a:r>
          </a:p>
        </p:txBody>
      </p:sp>
      <p:sp>
        <p:nvSpPr>
          <p:cNvPr id="22" name="Oval 21"/>
          <p:cNvSpPr/>
          <p:nvPr/>
        </p:nvSpPr>
        <p:spPr>
          <a:xfrm>
            <a:off x="3310128" y="3186684"/>
            <a:ext cx="128016" cy="128016"/>
          </a:xfrm>
          <a:prstGeom prst="ellipse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0" y="3525012"/>
            <a:ext cx="128016" cy="128016"/>
          </a:xfrm>
          <a:prstGeom prst="ellipse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10128" y="3854196"/>
            <a:ext cx="128016" cy="128016"/>
          </a:xfrm>
          <a:prstGeom prst="ellipse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0" y="4192524"/>
            <a:ext cx="128016" cy="128016"/>
          </a:xfrm>
          <a:prstGeom prst="ellipse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9560" y="1060704"/>
            <a:ext cx="389534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1060704"/>
            <a:ext cx="389534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1188719"/>
            <a:ext cx="349300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Two Different Books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2356866"/>
            <a:ext cx="3493008" cy="3040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tends to range, and it can pin near a heavy strike.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option is long gamma. A credit spread, condor, or butterfly is short gamma.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Those structures are later slides. They are not the dealer hedge.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Negative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They Chase, So the Move Can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736092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07007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07007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1288" y="2295144"/>
            <a:ext cx="5806440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1288" y="5221224"/>
            <a:ext cx="5806440" cy="2743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19476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531266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</p:txBody>
      </p:sp>
      <p:sp>
        <p:nvSpPr>
          <p:cNvPr id="17" name="Up Arrow 16"/>
          <p:cNvSpPr/>
          <p:nvPr/>
        </p:nvSpPr>
        <p:spPr>
          <a:xfrm>
            <a:off x="3367735" y="1444751"/>
            <a:ext cx="384048" cy="475488"/>
          </a:xfrm>
          <a:prstGeom prst="up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8087" y="1427226"/>
            <a:ext cx="301752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Rally. Dealers buy.</a:t>
            </a:r>
          </a:p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rally gets fuel.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367735" y="5422392"/>
            <a:ext cx="384048" cy="475488"/>
          </a:xfrm>
          <a:prstGeom prst="down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8087" y="5478018"/>
            <a:ext cx="301752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Drop. Dealers sell.</a:t>
            </a:r>
          </a:p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drop gets fuel.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461512"/>
            <a:ext cx="2194560" cy="629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break can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1060704"/>
            <a:ext cx="389534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1060704"/>
            <a:ext cx="389534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188719"/>
            <a:ext cx="349300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If the Move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2189988"/>
            <a:ext cx="3493008" cy="33741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hedge can add fuel, so a move can extend.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gamma gains delta as the move runs. Short gamma loses as it runs.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naked short has that short gamma, and the loss is not capped.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Same Calls, Opposite Hedge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024128"/>
            <a:ext cx="11420856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EXAMPLE. 10 contracts. Deltas are chosen so the share count is obvious. This is one call book, not every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572768"/>
            <a:ext cx="5628132" cy="4617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572768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719072"/>
            <a:ext cx="5628132" cy="640080"/>
          </a:xfrm>
          <a:prstGeom prst="rect">
            <a:avLst/>
          </a:prstGeom>
          <a:noFill/>
        </p:spPr>
        <p:txBody>
          <a:bodyPr wrap="square" lIns="182880" rIns="18288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Positive Book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Dealer Is Long the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4"/>
            <a:ext cx="5116068" cy="2706624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Start. Delta +0.50.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Hedge: short 500 shares.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Later. Delta +0.60.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Hedge: short 600 shares.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sell 100 shares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into the rally.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1572768"/>
            <a:ext cx="5628132" cy="4617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6772" y="1572768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6772" y="1719072"/>
            <a:ext cx="5628132" cy="640080"/>
          </a:xfrm>
          <a:prstGeom prst="rect">
            <a:avLst/>
          </a:prstGeom>
          <a:noFill/>
        </p:spPr>
        <p:txBody>
          <a:bodyPr wrap="square" lIns="182880" rIns="18288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Negative Book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Dealer Is Short the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2804" y="2889504"/>
            <a:ext cx="5116068" cy="2706624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Start. Delta -0.50.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Hedge: long 500 shares.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Later. Delta -0.60.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Hedge: long 600 shares.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buy 100 shares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into the rally.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Flip Is a Change in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672084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170431"/>
            <a:ext cx="672084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1517904"/>
            <a:ext cx="4160520" cy="1965960"/>
          </a:xfrm>
          <a:prstGeom prst="rect">
            <a:avLst/>
          </a:prstGeom>
          <a:solidFill>
            <a:srgbClr val="14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204212"/>
            <a:ext cx="3520439" cy="629920"/>
          </a:xfrm>
          <a:prstGeom prst="rect">
            <a:avLst/>
          </a:prstGeom>
          <a:noFill/>
        </p:spPr>
        <p:txBody>
          <a:bodyPr wrap="square" lIns="109728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Above the flip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Positive gamma. Fade.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53128" y="1950415"/>
            <a:ext cx="329184" cy="365760"/>
          </a:xfrm>
          <a:prstGeom prst="down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4453128" y="2658160"/>
            <a:ext cx="329184" cy="365760"/>
          </a:xfrm>
          <a:prstGeom prst="upArrow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30168"/>
            <a:ext cx="6208775" cy="7315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39896"/>
            <a:ext cx="6208775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Flip: Net Gamma Changes 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4087368"/>
            <a:ext cx="4160520" cy="1965960"/>
          </a:xfrm>
          <a:prstGeom prst="rect">
            <a:avLst/>
          </a:prstGeom>
          <a:solidFill>
            <a:srgbClr val="3A2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773676"/>
            <a:ext cx="3520439" cy="629920"/>
          </a:xfrm>
          <a:prstGeom prst="rect">
            <a:avLst/>
          </a:prstGeom>
          <a:noFill/>
        </p:spPr>
        <p:txBody>
          <a:bodyPr wrap="square" lIns="109728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Below the flip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Negative gamma. Chase.</a:t>
            </a:r>
          </a:p>
        </p:txBody>
      </p:sp>
      <p:sp>
        <p:nvSpPr>
          <p:cNvPr id="20" name="Up Arrow 19"/>
          <p:cNvSpPr/>
          <p:nvPr/>
        </p:nvSpPr>
        <p:spPr>
          <a:xfrm>
            <a:off x="4453128" y="4519879"/>
            <a:ext cx="329184" cy="365760"/>
          </a:xfrm>
          <a:prstGeom prst="up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4453128" y="5227624"/>
            <a:ext cx="329184" cy="365760"/>
          </a:xfrm>
          <a:prstGeom prst="downArrow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79" y="1060704"/>
            <a:ext cx="4535424" cy="253288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79" y="1060704"/>
            <a:ext cx="45354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1188719"/>
            <a:ext cx="41330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Not a Level to Lean 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1627632"/>
            <a:ext cx="4133088" cy="181965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0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 marks a change in behavior.</a:t>
            </a:r>
          </a:p>
          <a:p>
            <a:pPr algn="ctr">
              <a:lnSpc>
                <a:spcPts val="280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80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Support and resistance are the walls.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3739896"/>
            <a:ext cx="4535424" cy="253288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79" y="3739896"/>
            <a:ext cx="4535424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867911"/>
            <a:ext cx="41330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It Can Sit on a Wall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4306824"/>
            <a:ext cx="4133088" cy="181965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 can fall between two strikes.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If it sits on a wall, that edge is the regime line and the level,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On the Flip, the Hedge Goes Quiet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11420856" cy="2331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10917936" cy="1920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There is near-zero hedging on the flip itself.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Price often consolidates there, until it picks a side.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tight chop on the line is not a signal. It is the wait.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611880"/>
            <a:ext cx="3697224" cy="251460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611880"/>
            <a:ext cx="36972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3739896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On the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727448"/>
            <a:ext cx="3294888" cy="7040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Little stock to buy or sell for the gamma hedge. Price often sits.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5864" y="3611880"/>
            <a:ext cx="3697224" cy="251460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3611880"/>
            <a:ext cx="369722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7032" y="3739896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Accepts Above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7032" y="4560570"/>
            <a:ext cx="3294888" cy="10378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close holds above the flip. Expect fade behavior. Read it as positive.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7680" y="3611880"/>
            <a:ext cx="3697224" cy="251460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7680" y="3611880"/>
            <a:ext cx="369722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8848" y="3739896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Accepts Below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848" y="4560570"/>
            <a:ext cx="3294888" cy="10378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close holds below the flip. Expect chase behavior. Read it as negative.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Wick Is Not a New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1188719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188719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911449"/>
            <a:ext cx="2251252" cy="25603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0055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4077" y="1700784"/>
            <a:ext cx="21945" cy="2606040"/>
          </a:xfrm>
          <a:prstGeom prst="rect">
            <a:avLst/>
          </a:prstGeom>
          <a:solidFill>
            <a:srgbClr val="B4B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034" y="3392424"/>
            <a:ext cx="256032" cy="274319"/>
          </a:xfrm>
          <a:prstGeom prst="rect">
            <a:avLst/>
          </a:prstGeom>
          <a:solidFill>
            <a:srgbClr val="B4B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8114" y="2586228"/>
            <a:ext cx="2588940" cy="926591"/>
          </a:xfrm>
          <a:prstGeom prst="rect">
            <a:avLst/>
          </a:prstGeom>
          <a:noFill/>
        </p:spPr>
        <p:txBody>
          <a:bodyPr wrap="square" l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Wick through.</a:t>
            </a:r>
          </a:p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Close back on</a:t>
            </a:r>
          </a:p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old side.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526237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Still the Old Regime.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6772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23076" y="1188719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3076" y="1188719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1092" y="2911449"/>
            <a:ext cx="2251252" cy="25603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5956" y="260055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66801" y="1563624"/>
            <a:ext cx="21945" cy="2560320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49758" y="2112263"/>
            <a:ext cx="256032" cy="274320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0838" y="2586228"/>
            <a:ext cx="2588940" cy="926591"/>
          </a:xfrm>
          <a:prstGeom prst="rect">
            <a:avLst/>
          </a:prstGeom>
          <a:noFill/>
        </p:spPr>
        <p:txBody>
          <a:bodyPr wrap="square" l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close is through</a:t>
            </a:r>
          </a:p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flip. It still</a:t>
            </a:r>
          </a:p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has to 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9652" y="4553712"/>
            <a:ext cx="526237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Possible New Side.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5230368"/>
            <a:ext cx="11420856" cy="10241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5230368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3" y="5445760"/>
            <a:ext cx="10981944" cy="629920"/>
          </a:xfrm>
          <a:prstGeom prst="rect">
            <a:avLst/>
          </a:prstGeom>
          <a:noFill/>
        </p:spPr>
        <p:txBody>
          <a:bodyPr wrap="square" lIns="36576" rIns="54864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wick through the line is not a held close. A close through still has to hold on a later bar.</a:t>
            </a:r>
          </a:p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If later candles hold on the new side, the regime may have changed. Read the book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Walls Are Support and Resistance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6812280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25296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25296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1554480"/>
            <a:ext cx="18288" cy="4160520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1783080"/>
            <a:ext cx="3017520" cy="25603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44168" y="1719072"/>
            <a:ext cx="146304" cy="146304"/>
          </a:xfrm>
          <a:prstGeom prst="ellipse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63677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115    Call Wall    Resistance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34439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19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0199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83079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596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4884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460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9748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036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4612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1188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94760" y="2880360"/>
            <a:ext cx="109728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40" y="2880360"/>
            <a:ext cx="91439" cy="18288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44168" y="2816352"/>
            <a:ext cx="146304" cy="146304"/>
          </a:xfrm>
          <a:prstGeom prst="ellipse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273405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108    Flip    Behavior, Not a Wall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3977639"/>
            <a:ext cx="3017520" cy="25603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44168" y="3913631"/>
            <a:ext cx="146304" cy="146304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831335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100    Spot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" y="5074920"/>
            <a:ext cx="3017520" cy="25603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344168" y="5010912"/>
            <a:ext cx="146304" cy="146304"/>
          </a:xfrm>
          <a:prstGeom prst="ellipse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492861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90    Put Wall    Support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1078992"/>
            <a:ext cx="4443984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60920" y="1078992"/>
            <a:ext cx="4443984" cy="5029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2088" y="1207007"/>
            <a:ext cx="404164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How to Use Them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1645920"/>
            <a:ext cx="4041648" cy="43616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wall: the heavy call strike above. Often resistance.</a:t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Put wall: the heavy put strike below. Often support.</a:t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are open-interest levels.</a:t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 is drawn here so it is not read as a third wall.</a:t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dealer regime says how the hedge behaves at the level.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Hedge at a Wall Depends on the Regime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623560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Positive Gamma at a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72818"/>
            <a:ext cx="5221224" cy="37078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hedge leans back into the range.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tag of the wall and a close back inside are the same side of the flip.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close that holds outside can be a different regime.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wall is still just the heavy strike.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78992"/>
            <a:ext cx="5623560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78992"/>
            <a:ext cx="5623560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Negative Gamma at a Wall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45920"/>
            <a:ext cx="5221224" cy="43616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Once price goes through, the hedge can chase.</a:t>
            </a:r>
          </a:p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wick through the wall is not a held close.</a:t>
            </a:r>
          </a:p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close that stays outside is a move the hedge may fuel.</a:t>
            </a:r>
          </a:p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09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wall does not stop being a strike just because price tagged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Walls Move. Big Expiries Reset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62356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801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Wall Is This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Earlier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31720"/>
            <a:ext cx="2377440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14884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468880" y="2880360"/>
            <a:ext cx="329184" cy="420624"/>
          </a:xfrm>
          <a:prstGeom prst="downArrow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Open Interest Shifts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Later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69080"/>
            <a:ext cx="2377440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38862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New Call 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01184"/>
            <a:ext cx="5029200" cy="7040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Read them again.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Yesterday's line can be dead.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078992"/>
            <a:ext cx="5623560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1078992"/>
            <a:ext cx="5623560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645920"/>
            <a:ext cx="5221224" cy="43616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Open interest is what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builds the wall.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When that expiry passes,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those contracts are gone.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monthly expiry is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big reset.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SPY also expires through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week. After a large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one, rebuild the map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before you trust the</a:t>
            </a:r>
          </a:p>
          <a:p>
            <a:pPr algn="l">
              <a:lnSpc>
                <a:spcPts val="243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old levels.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Textbook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Charm and Vanna, in One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37947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62356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Charm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45920"/>
            <a:ext cx="5221224" cy="3081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change in delta as time</a:t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passes, with price and IV</a:t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held still.</a:t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Also called delta decay.</a:t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hedge can drift on a flat</a:t>
            </a:r>
          </a:p>
          <a:p>
            <a:pPr algn="l">
              <a:lnSpc>
                <a:spcPts val="299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day because the clock moved.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78992"/>
            <a:ext cx="5623560" cy="37947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78992"/>
            <a:ext cx="5623560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Vanna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45920"/>
            <a:ext cx="5221224" cy="30815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change in delta when IV</a:t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changes, with price held still.</a:t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also the change in vega</a:t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when price changes.</a:t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hedge can shift on a</a:t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volatility move, even if the</a:t>
            </a:r>
          </a:p>
          <a:p>
            <a:pPr algn="l">
              <a:lnSpc>
                <a:spcPts val="26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stock has not.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047488"/>
            <a:ext cx="11420856" cy="117043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5047488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5212080"/>
            <a:ext cx="10981944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Textbook definitions. This deck does not trade charm or vanna.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You trade gamma, the walls, and the close. These two only explain a hedge that moves on a quiet tape.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Unusual Whales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Four Rules on the Gamma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199339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623560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25295"/>
            <a:ext cx="9144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Heatmap Colors Are Net Gamma.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84832"/>
            <a:ext cx="525780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Not put gamma. Not call gamma by itself. The combined number.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078992"/>
            <a:ext cx="5623560" cy="199339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078992"/>
            <a:ext cx="5623560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225295"/>
            <a:ext cx="9144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55448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By-Strike Draws Two 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084832"/>
            <a:ext cx="525780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call wall, and spot. It does not draw the put wall. It does not draw the flip.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227832"/>
            <a:ext cx="5623560" cy="199339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227832"/>
            <a:ext cx="5623560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37413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0332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You Find the Put Wall.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33672"/>
            <a:ext cx="525780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the longest purple bar below spot.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3227832"/>
            <a:ext cx="5623560" cy="199339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227832"/>
            <a:ext cx="5623560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3374136"/>
            <a:ext cx="91440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70332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You Find the Flip.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233672"/>
            <a:ext cx="525780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where the heatmap color changes. Not a printed 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440680"/>
            <a:ext cx="11420856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Open interest is the swing. Directionalized Volume is the day. The next drawings are schematics.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They are marked ILLUSTRATIVE. They are not screenshots, and the heatmap colors are stand-ins.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Color Is Net Gamma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24128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024128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042415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Stand-in colors. Not the Unusual Whales palette.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4475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0DTE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144475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+2d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144475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+7d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144475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+14d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44475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44475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+2mo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1783080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800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1783080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1783080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0552" y="1783080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0552" y="1783080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6664" y="1783080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6664" y="1783080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22776" y="1783080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22776" y="1783080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783080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1783080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83080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1783080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2258568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" y="2258568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2258568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30552" y="2258568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30552" y="2258568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26664" y="2258568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26664" y="2258568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22776" y="2258568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22776" y="2258568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18888" y="2258568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8888" y="2258568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258568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2258568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2734056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" y="2734056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40" y="2734056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30552" y="2734056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30552" y="2734056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6664" y="2734056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2734056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22776" y="2734056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22776" y="2734056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18888" y="2734056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18888" y="2734056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5000" y="2734056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5000" y="2734056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" y="3209544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770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34440" y="3209544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4440" y="3209544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30552" y="3209544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0552" y="3209544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26664" y="3209544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26664" y="3209544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22776" y="3209544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22776" y="3209544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18888" y="3209544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18888" y="3209544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15000" y="3209544"/>
            <a:ext cx="841248" cy="420624"/>
          </a:xfrm>
          <a:prstGeom prst="rect">
            <a:avLst/>
          </a:prstGeom>
          <a:solidFill>
            <a:srgbClr val="1C6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5000" y="3209544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34440" y="3721607"/>
            <a:ext cx="5321808" cy="36576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34440" y="3813047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 = Where the Color Changes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" y="4142231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760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34440" y="4142231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4440" y="4142231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30552" y="4142231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30552" y="4142231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26664" y="4142231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26664" y="4142231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922776" y="4142231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22776" y="4142231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18888" y="4142231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18888" y="4142231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15000" y="4142231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15000" y="4142231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4617719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750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234440" y="4617719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234440" y="4617719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130552" y="4617719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30552" y="4617719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26664" y="4617719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26664" y="4617719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22776" y="4617719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922776" y="4617719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18888" y="4617719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18888" y="4617719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15000" y="4617719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15000" y="4617719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" y="5093207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740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234440" y="5093207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34440" y="5093207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130552" y="5093207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130552" y="5093207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026664" y="5093207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026664" y="5093207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22776" y="5093207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22776" y="5093207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18888" y="5093207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18888" y="5093207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715000" y="5093207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715000" y="5093207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4048" y="5568695"/>
            <a:ext cx="777240" cy="420624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730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234440" y="5568695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34440" y="5568695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30552" y="5568695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30552" y="5568695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026664" y="5568695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026664" y="5568695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22776" y="5568695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22776" y="5568695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18888" y="5568695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818888" y="5568695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15000" y="5568695"/>
            <a:ext cx="841248" cy="420624"/>
          </a:xfrm>
          <a:prstGeom prst="rect">
            <a:avLst/>
          </a:prstGeom>
          <a:solidFill>
            <a:srgbClr val="7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15000" y="5568695"/>
            <a:ext cx="841248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-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818120" y="1444752"/>
            <a:ext cx="3977639" cy="4617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818120" y="1444752"/>
            <a:ext cx="3977639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01000" y="1627632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Read It This Way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01000" y="2624327"/>
            <a:ext cx="3611880" cy="2706624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Plus cells: positive net gamma.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Minus cells: negative net gamma.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sign is the lesson. The shade is not live data.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On the real page, match the color to the legend. Do not memorize a hue.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By Strike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This Chart Does Not Draw Every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024128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024128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371600"/>
            <a:ext cx="5623560" cy="480060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447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1481328"/>
            <a:ext cx="966978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9019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1938528"/>
            <a:ext cx="1557909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3591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395728"/>
            <a:ext cx="3438144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163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2852928"/>
            <a:ext cx="2256282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2735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3310128"/>
            <a:ext cx="1289304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7307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767328"/>
            <a:ext cx="1074420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1879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4224528"/>
            <a:ext cx="4297680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6451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681728"/>
            <a:ext cx="1933956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1023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5138928"/>
            <a:ext cx="2900934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559552"/>
            <a:ext cx="658368" cy="329184"/>
          </a:xfrm>
          <a:prstGeom prst="rect">
            <a:avLst/>
          </a:prstGeom>
          <a:noFill/>
        </p:spPr>
        <p:txBody>
          <a:bodyPr wrap="square" lIns="0" rIns="36576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5596128"/>
            <a:ext cx="805815" cy="2560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000" y="4123944"/>
            <a:ext cx="4297680" cy="20116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84962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Spot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90722" y="2980944"/>
            <a:ext cx="1949957" cy="25603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9010" y="270662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1078992"/>
            <a:ext cx="5605272" cy="115214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1078992"/>
            <a:ext cx="73152" cy="1152144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1152144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Drawn for You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1463039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Spot, and the call wall. Those two lines are on the chart.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2340863"/>
            <a:ext cx="5605272" cy="115214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9632" y="2340863"/>
            <a:ext cx="73152" cy="1152144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2414015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You Mark the Put Wall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2724911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Longest purple bar below spot. Here that is 760. It is not drawn as a line.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3602735"/>
            <a:ext cx="5605272" cy="115214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9632" y="3602735"/>
            <a:ext cx="73152" cy="1152144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3675887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Ignore the Trap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7376" y="3986783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long bar at 780 is above spot. Longest bar on the wrong side is not the put wall.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4864607"/>
            <a:ext cx="5605272" cy="115214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9632" y="4864607"/>
            <a:ext cx="73152" cy="1152144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4937759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Flip Is Not Here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7376" y="5248655"/>
            <a:ext cx="5212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Do not look for it on this chart. The color change is on the heatmap.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Two Clocks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Open Interest Is the Swing. Volume Is the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3977639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623560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Open 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45920"/>
            <a:ext cx="5221224" cy="326440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Contracts that are still open.</a:t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This is the book already on.</a:t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builds the walls and</a:t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flip.</a:t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Use it for swing levels</a:t>
            </a:r>
          </a:p>
          <a:p>
            <a:pPr algn="l">
              <a:lnSpc>
                <a:spcPts val="2823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and for the regime.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78992"/>
            <a:ext cx="5623560" cy="3977639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78992"/>
            <a:ext cx="5623560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Directionalized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45920"/>
            <a:ext cx="5221224" cy="326440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What traded in the session,</a:t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with a direction on the flow.</a:t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This is the intraday view.</a:t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does not set the swing</a:t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wall, and it does not set</a:t>
            </a:r>
          </a:p>
          <a:p>
            <a:pPr algn="l">
              <a:lnSpc>
                <a:spcPts val="3176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monthly regime.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230368"/>
            <a:ext cx="11420856" cy="10058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5230368"/>
            <a:ext cx="11420856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5376672"/>
            <a:ext cx="10981944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midday push on Directionalized Volume does not move the open-interest wall.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Check the Three Levels in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394960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39496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280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Write These 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512064" cy="512064"/>
          </a:xfrm>
          <a:prstGeom prst="rect">
            <a:avLst/>
          </a:prstGeom>
          <a:solidFill>
            <a:srgbClr val="1A2838"/>
          </a:solidFill>
          <a:ln w="15875">
            <a:solidFill>
              <a:srgbClr val="8EB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74519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240279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Support. From open interest.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512064" cy="512064"/>
          </a:xfrm>
          <a:prstGeom prst="rect">
            <a:avLst/>
          </a:prstGeom>
          <a:solidFill>
            <a:srgbClr val="1A2838"/>
          </a:solidFill>
          <a:ln w="15875">
            <a:solidFill>
              <a:srgbClr val="8EB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108960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74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Resistance. From open interest.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512064" cy="512064"/>
          </a:xfrm>
          <a:prstGeom prst="rect">
            <a:avLst/>
          </a:prstGeom>
          <a:solidFill>
            <a:srgbClr val="1A2838"/>
          </a:solidFill>
          <a:ln w="15875">
            <a:solidFill>
              <a:srgbClr val="8EB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43400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09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Where net gamma changes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078992"/>
            <a:ext cx="5843016" cy="50749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078992"/>
            <a:ext cx="584301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1207007"/>
            <a:ext cx="5440679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If the Second Source Disagrees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5" y="1645920"/>
            <a:ext cx="5440679" cy="43616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same story, not the same pixel.</a:t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Same expiry?</a:t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Open interest, not today's volume?</a:t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 gamma, or the customer sign? Customer gamma flips the colors.</a:t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83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If they still disagree, the level is not confirmed. The sign convention is a common cause.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Month and the Day Are Two 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30632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5623560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Today's Open 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45920"/>
            <a:ext cx="5221224" cy="23500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nearby book.</a:t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above the flip:</a:t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 gamma is positive.</a:t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tend to fade.</a:t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below the flip:</a:t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 gamma is negative.</a:t>
            </a:r>
          </a:p>
          <a:p>
            <a:pPr algn="ctr"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They can chase.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78992"/>
            <a:ext cx="5623560" cy="30632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78992"/>
            <a:ext cx="5623560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207007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Longer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645919"/>
            <a:ext cx="5221224" cy="23500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Further expiries carry their own walls.</a:t>
            </a:r>
          </a:p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positive longer book is a pinning backdrop.</a:t>
            </a:r>
          </a:p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negative longer book is a backdrop where breaks can run.</a:t>
            </a:r>
          </a:p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does not replace today's strikes.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315968"/>
            <a:ext cx="11420856" cy="1874519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4315968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08220"/>
            <a:ext cx="10917936" cy="926591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If today and the longer book disagree, they are two facts.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Do not average them into a new price.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Today's open interest is the nearby hedge. The longer book is the backdrop.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Where Each Clock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7360920" cy="122072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7360920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225295"/>
            <a:ext cx="6400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225295"/>
            <a:ext cx="6464808" cy="36576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0DTE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751329"/>
            <a:ext cx="6464808" cy="333247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one-day gamma spike. Not the swing open interest.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91156"/>
            <a:ext cx="7360920" cy="122072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391156"/>
            <a:ext cx="7360920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5557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55748"/>
            <a:ext cx="6464808" cy="36576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Weekly 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81782"/>
            <a:ext cx="6464808" cy="333247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near walls and the near flip.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721608"/>
            <a:ext cx="7360920" cy="122072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721608"/>
            <a:ext cx="736092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862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86200"/>
            <a:ext cx="6464808" cy="36576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Monthly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12234"/>
            <a:ext cx="6464808" cy="333247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larger strikes, and the longer regime.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052060"/>
            <a:ext cx="7360920" cy="122072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5052060"/>
            <a:ext cx="7360920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2166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6652"/>
            <a:ext cx="6464808" cy="365760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42686"/>
            <a:ext cx="6464808" cy="333247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Where a close is visible against those levels.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060704"/>
            <a:ext cx="389534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1060704"/>
            <a:ext cx="3895344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0728" y="1188719"/>
            <a:ext cx="349300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Separate Books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2189988"/>
            <a:ext cx="3493008" cy="33741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Each expiry is its own book.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0DTE column on a heatmap is today's gamma, not the monthly wall.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price chart shows whether a close held beyond a level. The level still comes from open interest.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Price and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Trade the Range and the Walls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38404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1207008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207008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They Line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148840"/>
            <a:ext cx="2331720" cy="2240280"/>
          </a:xfrm>
          <a:prstGeom prst="rect">
            <a:avLst/>
          </a:prstGeom>
          <a:solidFill>
            <a:srgbClr val="1A2836"/>
          </a:solidFill>
          <a:ln w="19050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167890"/>
            <a:ext cx="196596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= Box 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813810"/>
            <a:ext cx="196596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= Box Bottom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078992"/>
            <a:ext cx="5623560" cy="38404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1207008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207008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5727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They Do Not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2194560"/>
            <a:ext cx="1965960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2697480"/>
            <a:ext cx="1600200" cy="1097280"/>
          </a:xfrm>
          <a:prstGeom prst="rect">
            <a:avLst/>
          </a:prstGeom>
          <a:solidFill>
            <a:srgbClr val="1A2836"/>
          </a:solidFill>
          <a:ln w="19050">
            <a:solidFill>
              <a:srgbClr val="E6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251960"/>
            <a:ext cx="1965960" cy="2743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078355"/>
            <a:ext cx="2926080" cy="3147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Walls Outside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67990"/>
            <a:ext cx="2926080" cy="5928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4h Box Is</a:t>
            </a:r>
          </a:p>
          <a:p>
            <a:pPr algn="ctr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Only the Middle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074920"/>
            <a:ext cx="11420856" cy="114300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074920"/>
            <a:ext cx="1142085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3" y="5230368"/>
            <a:ext cx="10981944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works best when they line up. Then the gamma levels and the chart levels are the same prices.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When they are not, you have two stories. Do not average them into a new price.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Price and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If the Maps Disagree, Wait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11420856" cy="15727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225295"/>
            <a:ext cx="10963656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Box Inside the Walls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1700784"/>
            <a:ext cx="10963656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edges of the box are price action only. Do not call them walls. The walls are still outside.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770632"/>
            <a:ext cx="11420856" cy="15727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770632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3" y="2916936"/>
            <a:ext cx="10963656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Through a Wall, No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3392424"/>
            <a:ext cx="10963656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has poked a wall and the 4h has not closed out. Wait for that close. A wick is not a side.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462272"/>
            <a:ext cx="11420856" cy="15727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4462272"/>
            <a:ext cx="11420856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4608576"/>
            <a:ext cx="10963656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Wall Inside the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3" y="5084064"/>
            <a:ext cx="10963656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wall is the level. The rest of the box is range. Do not split the difference and invent a third price.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October 16,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SPY Book from That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2745486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2745486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28016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1737360"/>
            <a:ext cx="252603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760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26080"/>
            <a:ext cx="24528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Support. Bottom of the box.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5838" y="1060704"/>
            <a:ext cx="2745486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60704"/>
            <a:ext cx="2745486" cy="5029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5566" y="128016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5566" y="1737360"/>
            <a:ext cx="252603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775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2926080"/>
            <a:ext cx="24528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Resistance. Top of the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7628" y="1060704"/>
            <a:ext cx="2745486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7628" y="1060704"/>
            <a:ext cx="274548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7356" y="128016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1737360"/>
            <a:ext cx="252603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about 774.5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932" y="2926080"/>
            <a:ext cx="24528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Behavior change. On the ceiling.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060704"/>
            <a:ext cx="2745486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9418" y="1060704"/>
            <a:ext cx="2745486" cy="50292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9146" y="1280160"/>
            <a:ext cx="252603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9146" y="1737360"/>
            <a:ext cx="252603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about 763.2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5722" y="2926080"/>
            <a:ext cx="2452878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Under the flip. Inside the walls.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480560"/>
            <a:ext cx="11420856" cy="960120"/>
          </a:xfrm>
          <a:prstGeom prst="rect">
            <a:avLst/>
          </a:prstGeom>
          <a:solidFill>
            <a:srgbClr val="3A2226"/>
          </a:solidFill>
          <a:ln w="15875">
            <a:solidFill>
              <a:srgbClr val="FF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3" y="4590288"/>
            <a:ext cx="10981944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Regime: negative gamma. Spot is under the flip. Most of 760 to 775 is under it too.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596128"/>
            <a:ext cx="11420856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These are the open-interest levels from the October 16, 2026 SPY close, as used for this example.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775 minus 760 is 15 points. On spot about 763, that box is about 2% wide.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October 16,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4h Range Was the Walls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7178040" cy="51206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5960" y="1554480"/>
            <a:ext cx="18288" cy="4251959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40280" y="2617470"/>
            <a:ext cx="3246120" cy="2277835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459715"/>
            <a:ext cx="3246120" cy="629920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4h Range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760 to 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2617470"/>
            <a:ext cx="3977639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1640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47088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02536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57984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3432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79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24327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9775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35223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90671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19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1567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57015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12463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67911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59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78807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4255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9703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45151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00599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56047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11495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66943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22391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77839" y="2693397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91640" y="4895305"/>
            <a:ext cx="3977639" cy="2743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76472" y="4327071"/>
            <a:ext cx="164592" cy="164592"/>
          </a:xfrm>
          <a:prstGeom prst="ellipse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2471165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775 Call Wall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2547093"/>
            <a:ext cx="1143000" cy="292608"/>
          </a:xfrm>
          <a:prstGeom prst="rect">
            <a:avLst/>
          </a:prstGeom>
          <a:noFill/>
        </p:spPr>
        <p:txBody>
          <a:bodyPr wrap="square" lIns="0" rIns="54864" tIns="0" bIns="0"/>
          <a:lstStyle/>
          <a:p>
            <a:pPr algn="r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263063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763.2 Spot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749001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760 Put Wall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060704"/>
            <a:ext cx="4078224" cy="2331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26679" y="1060704"/>
            <a:ext cx="40782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120700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Top of the Box, Opened 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01000" y="2296160"/>
            <a:ext cx="2103120" cy="27432"/>
          </a:xfrm>
          <a:prstGeom prst="rect">
            <a:avLst/>
          </a:prstGeom>
          <a:solidFill>
            <a:srgbClr val="7A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01000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47304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93608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39912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86216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32520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78824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25128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71432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17736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64040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10344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56648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02952" y="2567093"/>
            <a:ext cx="91440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049256" y="2567093"/>
            <a:ext cx="54863" cy="16459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95560" y="214985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7AD7E4"/>
                </a:solidFill>
                <a:latin typeface="Liberation Sans"/>
                <a:ea typeface="Liberation Sans"/>
                <a:cs typeface="Liberation Sans"/>
              </a:rPr>
              <a:t>775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2420789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774.5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9560" y="2944368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Half a point apart. Linear scale.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26679" y="3547872"/>
            <a:ext cx="4078224" cy="2633472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726679" y="3547872"/>
            <a:ext cx="407822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27848" y="3675887"/>
            <a:ext cx="3675887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the Picture Says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27848" y="4114800"/>
            <a:ext cx="3675887" cy="192023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box and the walls</a:t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are the same prices.</a:t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 is glued to</a:t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call wall.</a:t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Almost the whole box</a:t>
            </a:r>
          </a:p>
          <a:p>
            <a:pPr algn="l">
              <a:lnSpc>
                <a:spcPts val="1853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is negative gamma.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October 16,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That Book Was Saying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97280"/>
            <a:ext cx="3697224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97280"/>
            <a:ext cx="369722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225295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Close Through 760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244852"/>
            <a:ext cx="3294888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Still under the flip.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Negative gamma stands.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downside hedge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can add fuel.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1097280"/>
            <a:ext cx="3697224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5864" y="1097280"/>
            <a:ext cx="36972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7032" y="1225295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Poke, Then Back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032" y="2244852"/>
            <a:ext cx="3294888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close is inside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box.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outside print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did not 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680" y="1097280"/>
            <a:ext cx="3697224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80" y="1097280"/>
            <a:ext cx="369722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8" y="1225295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Holds Above 775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244852"/>
            <a:ext cx="3294888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crossed the flip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and the call wall.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regime may</a:t>
            </a:r>
          </a:p>
          <a:p>
            <a:pPr algn="l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have 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526280"/>
            <a:ext cx="11420856" cy="166420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526280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3" y="4681728"/>
            <a:ext cx="10981944" cy="13533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Inside 760 to 775, spot was under the flip, so most of the box was negative gamma.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flip was about 774.5, half a point under the call wall. A hold above 775 is a cross of both.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That is a new read of the book. The old sign does not carry across the flip by itself.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Buying and Selling in Positive Gamma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23110"/>
            <a:ext cx="5225796" cy="37078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call or a long put is long gamma.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Delta moves with the price.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Theta is the cost, every day.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debit spread is the same idea with less gamma, less vega, and a capped gain.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Max loss on both is the debit.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Credit Spreads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819148"/>
            <a:ext cx="5225796" cy="41158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credit spread sells premium, and the loss is capped.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call credit spread sits above a call wall.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put credit spread sits below a put wall.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Max loss is the width minus the credit.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short strike is where that loss starts.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position is short gamma.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Condors and Butterflies Around the Walls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369722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369722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Iron Condor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523744"/>
            <a:ext cx="3294888" cy="2706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short put spread below the put wall, and a short call spread above the call wall.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Profit if price finishes between the short strikes.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loss is defined. It is larger than the credit.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1060704"/>
            <a:ext cx="369722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5864" y="1060704"/>
            <a:ext cx="36972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7032" y="1188719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Butterfly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032" y="2690622"/>
            <a:ext cx="3294888" cy="23728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one wing, short two at the body, long the other wing.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Profit if price finishes near the body.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body is often a heavy strike, where a pin is possible.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680" y="1060704"/>
            <a:ext cx="369722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80" y="1060704"/>
            <a:ext cx="369722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8" y="1188719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They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523744"/>
            <a:ext cx="3294888" cy="2706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Both are short gamma next to a long option.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quiet range is the gain.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move through a wing is the loss.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wings are the defined-risk lines.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Buying and Selling in Negative Gamma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Options and Debit Spreads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5796" cy="3310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8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Negative dealer gamma means the hedge can chase a move.</a:t>
            </a:r>
          </a:p>
          <a:p>
            <a:pPr algn="ctr">
              <a:lnSpc>
                <a:spcPts val="28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8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option is long gamma, so its delta grows with the run.</a:t>
            </a:r>
          </a:p>
          <a:p>
            <a:pPr algn="ctr">
              <a:lnSpc>
                <a:spcPts val="28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debit spread does the same with less gamma and a capped gain.</a:t>
            </a:r>
          </a:p>
          <a:p>
            <a:pPr algn="ctr">
              <a:lnSpc>
                <a:spcPts val="28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86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Theta is still paid.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2"/>
            <a:ext cx="5225796" cy="3310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credit spread, condor, or butterfly is short gamma.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chase is the loss, up to the defined wing.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naked short has the same short gamma and no wing.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credit is the most that position can make.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230368"/>
            <a:ext cx="11420856" cy="10241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5230368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5445760"/>
            <a:ext cx="10981944" cy="62992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 gamma describes their hedge. These structures are ways to be long or short gamma yourself. They can match the dealer book, or oppose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Your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Gamma and Short Gamma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Gamma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5796" cy="3310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calls and long puts.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As price moves, delta increases in that direction.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further move can add to the gain.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Theta is the cost.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debit spread is long gamma in a smaller size. The short leg cuts the gamma and caps the gain.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Gamma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2"/>
            <a:ext cx="5225796" cy="3310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Short calls, short puts, credit spreads, condors, and butterflies.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As price moves, delta increases against the position.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quiet underlying is when theta is collected.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large move is when the loss shows up.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Defined-risk shorts stop at the long strike. Naked shorts do not.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230368"/>
            <a:ext cx="11420856" cy="10241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5230368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3" y="5445760"/>
            <a:ext cx="10981944" cy="62992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This is your position. Dealer gamma is their hedge. You can be long gamma while dealers are short, or the other way around.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Poke Is Not a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5623560" cy="3977639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1207008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207008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572768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Comes 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06040"/>
            <a:ext cx="4937760" cy="18288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042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7867" y="1965960"/>
            <a:ext cx="21945" cy="1828800"/>
          </a:xfrm>
          <a:prstGeom prst="rect">
            <a:avLst/>
          </a:prstGeom>
          <a:solidFill>
            <a:srgbClr val="B4B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2880360"/>
            <a:ext cx="182880" cy="274320"/>
          </a:xfrm>
          <a:prstGeom prst="rect">
            <a:avLst/>
          </a:prstGeom>
          <a:solidFill>
            <a:srgbClr val="B4B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5147" y="2788920"/>
            <a:ext cx="21945" cy="1188719"/>
          </a:xfrm>
          <a:prstGeom prst="rect">
            <a:avLst/>
          </a:prstGeom>
          <a:solidFill>
            <a:srgbClr val="B4B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4679" y="3063240"/>
            <a:ext cx="182880" cy="457200"/>
          </a:xfrm>
          <a:prstGeom prst="rect">
            <a:avLst/>
          </a:prstGeom>
          <a:solidFill>
            <a:srgbClr val="B4BE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926080"/>
            <a:ext cx="19202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Pushes out.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Closes back in.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Next bar stays 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Close Came Back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078992"/>
            <a:ext cx="5623560" cy="3977639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1207008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332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1207008"/>
            <a:ext cx="1755648" cy="29260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ILLUSTRATIVE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572768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63240"/>
            <a:ext cx="4937760" cy="18288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76148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4267" y="1783080"/>
            <a:ext cx="21945" cy="1737360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2057400"/>
            <a:ext cx="182880" cy="365759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58707" y="1691640"/>
            <a:ext cx="21945" cy="1188719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1965960"/>
            <a:ext cx="182880" cy="365759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24612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Closes out.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next close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stays out.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Later Close Held Outside.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12080"/>
            <a:ext cx="11420856" cy="10058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5212080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" y="5418328"/>
            <a:ext cx="11018520" cy="62992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wick, or one close outside, is not the same as a close that stays outside. If price closes back inside, the outside close did not hold.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When a Close Holds, the Book Can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2745486" cy="3017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274548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024887"/>
            <a:ext cx="2489454" cy="322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392679"/>
            <a:ext cx="2489454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Close Outside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701543"/>
            <a:ext cx="2489454" cy="43992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candle finishes outside the old range.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5838" y="1060704"/>
            <a:ext cx="2745486" cy="3017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60704"/>
            <a:ext cx="274548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3854" y="1921764"/>
            <a:ext cx="2489454" cy="322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3854" y="2289555"/>
            <a:ext cx="2489454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It 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3854" y="2598419"/>
            <a:ext cx="2489454" cy="646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later candle is still closed outside. It did not come back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7628" y="1060704"/>
            <a:ext cx="2745486" cy="3017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7628" y="1060704"/>
            <a:ext cx="274548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5644" y="1921764"/>
            <a:ext cx="2489454" cy="322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2289555"/>
            <a:ext cx="2489454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Book Can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5644" y="2598419"/>
            <a:ext cx="2489454" cy="646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may have crossed the flip. The walls may be the same, or not.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060704"/>
            <a:ext cx="2745486" cy="3017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9418" y="1060704"/>
            <a:ext cx="274548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7434" y="1921764"/>
            <a:ext cx="2489454" cy="322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7434" y="2289555"/>
            <a:ext cx="2489454" cy="2631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5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Read It Again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7434" y="2598419"/>
            <a:ext cx="2489454" cy="6461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New open interest. New flip. New spot. The old map was the old book.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242816"/>
            <a:ext cx="11420856" cy="197510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242816"/>
            <a:ext cx="11420856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3" y="4340351"/>
            <a:ext cx="10981944" cy="1816608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close back inside means the outside close did not hold.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If the close also crosses the flip, the dealer hedge may have changed sign. That is a new read of the book, not a label carried over from the old one.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walls are still the open-interest strikes. They move when the book moves.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Squeeze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Gamma Squeeze Is the Hedge Feeding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Calls, and a Rising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1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Dealers who are short calls are short gamma.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Price rises. Call delta rises. They buy stock to get back to neutral.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That buying can push price higher, which raises delta again.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loop is strongest near the strike, and near expiry, where gamma peaks.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a feedback story. It is not a schedule, and it does not have to finish.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Puts, and a Falling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1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other direction is the same gamma.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Dealers who are short puts, and a falling price, sell stock to hedge.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That selling can push price lower.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upside version is the one called a squeeze.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Both are negative-gamma hedging.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Neither one is a measured share count. The chart of gamma shows where the sensitivity is highest.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Volatility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VIX Is the Price of Index Volatility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VIX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1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VIX is the market's price for 30-day S&amp;P 500 volatility.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implied volatility. It is not a print of what the index will do.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higher VIX means richer option premiums.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same delta then hedges with more sensitivity to volatility.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lower VIX means cheaper premiums.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gamma shape still peaks at the strike. VIX scales the premium.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High IV and Low 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1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When implied volatility is high, a long option costs more, and a credit collected is larger.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When implied volatility is low, the long option is cheaper, and the credit is smaller.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IV can rise or fall with price held still. That sensitivity is vega.</a:t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09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fast drop in IV is crush. The crush chart is that drop, including a case where the stock rose and the call still fell.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Single Stock and an Index Are Different 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Single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Open interest can sit in size at a few strikes.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wall is sharper. The stock can gap through it.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trading halt is possible.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dealer hedge is in that one name.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News and earnings land on the name itself.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gamma peak near expiry is the same shape. The book behind it is thinner.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An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2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book is deeper. The hedge is spread across many names.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Walls are usually wider, and less abrupt, than a single-name wall.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SPX, SPY, and the futures are related. They are not the same open interest.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name can move while the index does not, and the reverse.</a:t>
            </a:r>
          </a:p>
          <a:p>
            <a:pPr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October 16 example in this deck is SPY.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GEX Does Not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32704" cy="25054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3270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3036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Model, Not a Tape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893570"/>
            <a:ext cx="5230368" cy="12603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GEX estimates a dealer hedge from open interest. It is not the shares already bought or sold.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60704"/>
            <a:ext cx="5632704" cy="25054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60704"/>
            <a:ext cx="563270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188719"/>
            <a:ext cx="523036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Sign Is Assumed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93570"/>
            <a:ext cx="5230368" cy="12603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model assigns options to dealers or to customers. Swap that assumption and the colors flip.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712463"/>
            <a:ext cx="5632704" cy="25054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712463"/>
            <a:ext cx="5632704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3840479"/>
            <a:ext cx="523036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OI Is Not the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4545329"/>
            <a:ext cx="5230368" cy="12603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Open interest is the open book. Volume can be opening or closing. The swing map and the day are different.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3712463"/>
            <a:ext cx="5632704" cy="2505456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712463"/>
            <a:ext cx="563270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840479"/>
            <a:ext cx="523036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It Leaves Things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341368"/>
            <a:ext cx="5230368" cy="166827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does not show the hedge already on, futures versus stock, or inventory you cannot see. A level is pressure, not a promise.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Naked Short Has No 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5796" cy="3310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loss has no cap. The stock can rise without a limit.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Assignment turns the short call into short stock, or into the cash to buy the shares.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credit is the most the position can make.</a:t>
            </a:r>
          </a:p>
          <a:p>
            <a:pPr algn="ctr">
              <a:lnSpc>
                <a:spcPts val="2577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Margin is required. The broker can close the position.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40233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2"/>
            <a:ext cx="5225796" cy="33101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loss grows as the stock falls.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Near zero, the loss is about the strike times 100, minus the credit.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Assignment turns the short put into long stock.</a:t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Same facts: the loss is not capped on the way down, margin is required, and the broker can close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230368"/>
            <a:ext cx="11420856" cy="10241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5230368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5445760"/>
            <a:ext cx="11018520" cy="62992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option at a further strike caps that short. The cap is a spread. Without the long leg, the short is naked. American options can be assigned before expiry.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Side Is the View. The Structure Is the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356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3560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Upside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1224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call, or a call debit spread, is long gamma to the upside.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call credit spread, or a short call, is short gamma to the upside.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first pays a debit. The second collects a credit.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Only the spread, or a covered short, has a defined loss.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60704"/>
            <a:ext cx="562356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60704"/>
            <a:ext cx="5623560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188719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Downside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19148"/>
            <a:ext cx="5221224" cy="411581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put, or a put debit spread, is long gamma to the downside.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put credit spread, or a short put, is short gamma to the downside.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Same split: debit or credit.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naked short put is not capped until the stock is near zero.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Five Ways the Same View Is Held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11420856" cy="95463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1142085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110995"/>
            <a:ext cx="2331720" cy="904341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110995"/>
            <a:ext cx="2331720" cy="904341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Long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1389684"/>
            <a:ext cx="876909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gamma. Debit. Loss capped at the debit. Gain is open.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125065"/>
            <a:ext cx="11420856" cy="95463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125065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175357"/>
            <a:ext cx="2331720" cy="904341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175357"/>
            <a:ext cx="2331720" cy="904341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Debit Spread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454046"/>
            <a:ext cx="876909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gamma, smaller. Debit. Loss capped. Gain capped at the short strike.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189427"/>
            <a:ext cx="11420856" cy="95463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189427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239719"/>
            <a:ext cx="2331720" cy="904341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39719"/>
            <a:ext cx="2331720" cy="904341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Credit Spread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518408"/>
            <a:ext cx="876909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gamma. Credit. Gain capped at the credit. Loss capped at the width.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253788"/>
            <a:ext cx="11420856" cy="95463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4253788"/>
            <a:ext cx="11420856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4304080"/>
            <a:ext cx="2331720" cy="904341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304080"/>
            <a:ext cx="2331720" cy="904341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C9B2FF"/>
                </a:solidFill>
                <a:latin typeface="Liberation Sans"/>
                <a:ea typeface="Liberation Sans"/>
                <a:cs typeface="Liberation Sans"/>
              </a:rPr>
              <a:t>Condor or Butterfly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582769"/>
            <a:ext cx="876909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gamma around the walls or a strike. Gain if price sits. Loss defined at the wings.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5318150"/>
            <a:ext cx="11420856" cy="954633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5318150"/>
            <a:ext cx="11420856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5368442"/>
            <a:ext cx="2331720" cy="904341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368442"/>
            <a:ext cx="2331720" cy="904341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Naked Short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5647131"/>
            <a:ext cx="876909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gamma. Credit. Gain capped. Loss is not capped. Margin is required.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a Single Long Option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11420856" cy="124358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1142085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15618"/>
            <a:ext cx="3154680" cy="3703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Long gamma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534160"/>
            <a:ext cx="7854696" cy="333247"/>
          </a:xfrm>
          <a:prstGeom prst="rect">
            <a:avLst/>
          </a:prstGeom>
          <a:noFill/>
        </p:spPr>
        <p:txBody>
          <a:bodyPr wrap="square" l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Delta increases as price moves in favor of the option.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14015"/>
            <a:ext cx="11420856" cy="124358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414015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868929"/>
            <a:ext cx="3154680" cy="3703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The debit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887472"/>
            <a:ext cx="7854696" cy="333247"/>
          </a:xfrm>
          <a:prstGeom prst="rect">
            <a:avLst/>
          </a:prstGeom>
          <a:noFill/>
        </p:spPr>
        <p:txBody>
          <a:bodyPr wrap="square" l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most the long option can lose is the premium paid.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767328"/>
            <a:ext cx="11420856" cy="1243584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767328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222242"/>
            <a:ext cx="3154680" cy="3703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Theta and vega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240784"/>
            <a:ext cx="7854696" cy="333247"/>
          </a:xfrm>
          <a:prstGeom prst="rect">
            <a:avLst/>
          </a:prstGeom>
          <a:noFill/>
        </p:spPr>
        <p:txBody>
          <a:bodyPr wrap="square" lIns="73152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Time decay is paid every day. A drop in IV can cut the price even if the stock rises.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138928"/>
            <a:ext cx="11420856" cy="10972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5138928"/>
            <a:ext cx="11420856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3" y="5539232"/>
            <a:ext cx="10981944" cy="333247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One contract is 100 shares of exposure, times delta. The shares are the exposure figure. They are not a stock position.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a Vertical Spread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704088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7040880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243584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Same expiry. One long strike.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One short strike, further 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011680"/>
            <a:ext cx="2880360" cy="1051560"/>
          </a:xfrm>
          <a:prstGeom prst="rect">
            <a:avLst/>
          </a:prstGeom>
          <a:solidFill>
            <a:srgbClr val="14352F"/>
          </a:solidFill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40788"/>
            <a:ext cx="2697480" cy="62992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the nearer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strike.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03320" y="2359152"/>
            <a:ext cx="411480" cy="274320"/>
          </a:xfrm>
          <a:prstGeom prst="rightArrow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011680"/>
            <a:ext cx="2880360" cy="1051560"/>
          </a:xfrm>
          <a:prstGeom prst="rect">
            <a:avLst/>
          </a:prstGeom>
          <a:solidFill>
            <a:srgbClr val="1A2838"/>
          </a:solidFill>
          <a:ln w="15875">
            <a:solidFill>
              <a:srgbClr val="8EB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240788"/>
            <a:ext cx="2697480" cy="629920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Short the further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strike.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02228"/>
            <a:ext cx="6492240" cy="2113280"/>
          </a:xfrm>
          <a:prstGeom prst="rect">
            <a:avLst/>
          </a:prstGeom>
          <a:noFill/>
        </p:spPr>
        <p:txBody>
          <a:bodyPr wrap="square" l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Debit spread: the long strike costs more. Max loss is the debit. Past the short strike the gain stops.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Credit spread: the short strike brings in more. Max gain is the credit. Max loss is the width minus the credit.</a:t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spread for the upside. Put spread for the downside.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060704"/>
            <a:ext cx="4215384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1060704"/>
            <a:ext cx="421538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1188719"/>
            <a:ext cx="381304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Short Leg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1627632"/>
            <a:ext cx="3813048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covered by the long leg of the same expiry.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American options can be assigned early on that short leg.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long leg is what makes the loss defined.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Without it, the short is naked.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Payoff at Expiry, Single Versus Spread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48</a:t>
            </a:r>
          </a:p>
        </p:txBody>
      </p:sp>
      <p:pic>
        <p:nvPicPr>
          <p:cNvPr id="10" name="Picture 9" descr="pay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06239"/>
            <a:ext cx="6629400" cy="4627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78040" y="1097280"/>
            <a:ext cx="4626864" cy="4160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1097280"/>
            <a:ext cx="462686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1225295"/>
            <a:ext cx="4224527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Example Debits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1664208"/>
            <a:ext cx="4224527" cy="344728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21 days. IV 25%.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100. Rate 4%.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No dividend.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100 call: 2.51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100/105 spread: 1.74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Spread max gain: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3.26 per share.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About 326 dollars</a:t>
            </a:r>
          </a:p>
          <a:p>
            <a:pPr algn="l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989320"/>
            <a:ext cx="11420856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EXAMPLE. Black-Scholes prices, then the expiry payoff of those debits. Per share. A contract is times 100. Not a forecast.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Rich IV Does to the Price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042415"/>
            <a:ext cx="11420856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EXAMPLE. Same 21-day 100/105 call spread. Spot 100. Rate 4%. No dividend. Only IV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21128"/>
            <a:ext cx="2880360" cy="333247"/>
          </a:xfrm>
          <a:prstGeom prst="rect">
            <a:avLst/>
          </a:prstGeom>
          <a:noFill/>
        </p:spPr>
        <p:txBody>
          <a:bodyPr wrap="square" lIns="36576" rIns="54864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ATM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48132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IV 18%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3977639" cy="11155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011680"/>
            <a:ext cx="397763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309876"/>
            <a:ext cx="3977639" cy="555752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408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1.84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48132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IV 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011680"/>
            <a:ext cx="3977639" cy="11155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2011680"/>
            <a:ext cx="3977639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309876"/>
            <a:ext cx="3977639" cy="555752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408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3.94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701288"/>
            <a:ext cx="2880360" cy="333247"/>
          </a:xfrm>
          <a:prstGeom prst="rect">
            <a:avLst/>
          </a:prstGeom>
          <a:noFill/>
        </p:spPr>
        <p:txBody>
          <a:bodyPr wrap="square" lIns="36576" rIns="54864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Spread Debit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291840"/>
            <a:ext cx="3977639" cy="11155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291840"/>
            <a:ext cx="397763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590036"/>
            <a:ext cx="3977639" cy="555752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408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1.52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291840"/>
            <a:ext cx="3977639" cy="11155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3291840"/>
            <a:ext cx="3977639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3590036"/>
            <a:ext cx="3977639" cy="555752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408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1.95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981448"/>
            <a:ext cx="2880360" cy="333247"/>
          </a:xfrm>
          <a:prstGeom prst="rect">
            <a:avLst/>
          </a:prstGeom>
          <a:noFill/>
        </p:spPr>
        <p:txBody>
          <a:bodyPr wrap="square" lIns="36576" rIns="54864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Spread Max 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4572000"/>
            <a:ext cx="3977639" cy="11155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4572000"/>
            <a:ext cx="397763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4870196"/>
            <a:ext cx="3977639" cy="555752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408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3.48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572000"/>
            <a:ext cx="3977639" cy="11155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4572000"/>
            <a:ext cx="3977639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870196"/>
            <a:ext cx="3977639" cy="555752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4087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3.05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852160"/>
            <a:ext cx="11420856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single call more than doubles. The spread debit rises less. Rich IV raises the single more than it raises the spread.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October 16,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How a Structure Sat on That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11420856" cy="7772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300988"/>
            <a:ext cx="11018520" cy="333247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ctr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picture of the October 16 book. Not an order. IV for that session is not in the example.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993392"/>
            <a:ext cx="5623560" cy="4160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993392"/>
            <a:ext cx="5623560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121408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Through 760, Still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560320"/>
            <a:ext cx="5221224" cy="344728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stays under the flip.</a:t>
            </a:r>
          </a:p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put, or a put debit spread, is long gamma to the downside.</a:t>
            </a:r>
          </a:p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put credit spread is short gamma under the put wall.</a:t>
            </a:r>
          </a:p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naked short put has no cap if the drop continues.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993392"/>
            <a:ext cx="5623560" cy="41605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993392"/>
            <a:ext cx="5623560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121408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Through 775, Across the Flip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60320"/>
            <a:ext cx="5221224" cy="344728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That close crosses the call wall and the flip, about 774.5.</a:t>
            </a:r>
          </a:p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dealer sign may have changed. Read the book again.</a:t>
            </a:r>
          </a:p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call is long gamma above there.</a:t>
            </a:r>
          </a:p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call credit spread is short gamma at the wall.</a:t>
            </a:r>
          </a:p>
          <a:p>
            <a:pPr algn="ctr">
              <a:lnSpc>
                <a:spcPts val="244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naked short call has no cap if the rise continues.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High Delta, Mid Delta, Low Delta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51</a:t>
            </a:r>
          </a:p>
        </p:txBody>
      </p:sp>
      <p:pic>
        <p:nvPicPr>
          <p:cNvPr id="10" name="Picture 9" descr="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2656"/>
            <a:ext cx="6355080" cy="449611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03720" y="1060704"/>
            <a:ext cx="4901184" cy="14813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1457198"/>
            <a:ext cx="4645152" cy="248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High    0.82    Strike 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1733042"/>
            <a:ext cx="4645152" cy="43992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Costs more. Moves like the stock.</a:t>
            </a:r>
          </a:p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About 5.81 a share. About 82 shares of exposure.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670048"/>
            <a:ext cx="4901184" cy="14813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1736" y="3066542"/>
            <a:ext cx="4645152" cy="248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Mid    0.53    Strike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3342386"/>
            <a:ext cx="4645152" cy="43992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0.40 to 0.60. Reacts fast.</a:t>
            </a:r>
          </a:p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About 2.51 a share. About 53 shares of exposure.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4279392"/>
            <a:ext cx="4901184" cy="148132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4675886"/>
            <a:ext cx="4645152" cy="24841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Low    0.18    Strike 106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4951730"/>
            <a:ext cx="4645152" cy="43992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Cheap. Needs a big move. Often expires worthless.</a:t>
            </a:r>
          </a:p>
          <a:p>
            <a:pPr algn="ctr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About 0.58 a share. About 18 shares of exposure.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053328"/>
            <a:ext cx="11420856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EXAMPLE. 21 days, IV 25%, spot 100, rate 4%, no dividend. Exposure is delta times 100 shares, on a small move. That figure is not a share position.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Delta, Ignoring the 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78992"/>
            <a:ext cx="11420856" cy="12344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243584"/>
            <a:ext cx="10981944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Delta (ignoring the sign) is roughly the chance the option finishes in the money.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450592"/>
            <a:ext cx="5628132" cy="22402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450592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103372"/>
            <a:ext cx="5372100" cy="322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Call Delta +0.45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507740"/>
            <a:ext cx="5372100" cy="557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Ignore the plus.</a:t>
            </a:r>
          </a:p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Read it as about a 45 percent chance.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2" y="2450592"/>
            <a:ext cx="5628132" cy="22402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6772" y="2450592"/>
            <a:ext cx="5628132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4788" y="3103372"/>
            <a:ext cx="5372100" cy="3220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Put Delta -0.45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4788" y="3507740"/>
            <a:ext cx="5372100" cy="5577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Ignore the minus.</a:t>
            </a:r>
          </a:p>
          <a:p>
            <a:pPr algn="ctr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Same read. About 45 percent.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800600"/>
            <a:ext cx="11420856" cy="138988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800600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4956048"/>
            <a:ext cx="10981944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Rough guide. Closer on short-dated options.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In the model, the chance of finishing in the money is a nearby number, not this one.</a:t>
            </a:r>
          </a:p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Use it to plan. Do not treat it as exact.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Theta Is Decay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53</a:t>
            </a:r>
          </a:p>
        </p:txBody>
      </p:sp>
      <p:pic>
        <p:nvPicPr>
          <p:cNvPr id="10" name="Picture 9" descr="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14750"/>
            <a:ext cx="6812280" cy="46467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60920" y="1060704"/>
            <a:ext cx="4443983" cy="47548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1060704"/>
            <a:ext cx="4443983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1188719"/>
            <a:ext cx="4041647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What the Curves Say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627632"/>
            <a:ext cx="4041647" cy="40416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held at 100.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IV 25%. EXAMPLE.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Single call, 45 days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to 1 day: 3.74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to 0.53.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100/105 spread: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1.97 to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0.53.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single gives up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more dollars. The curve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steepens into expiry.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With a day left, the 105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call is nearly worthless,</a:t>
            </a:r>
          </a:p>
          <a:p>
            <a:pPr algn="l">
              <a:lnSpc>
                <a:spcPts val="175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so the two meet.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016752"/>
            <a:ext cx="11420856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A long option pays theta every day it is open. A short option collects that theta.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IV Crush Is a Fast Drop in IV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54</a:t>
            </a:r>
          </a:p>
        </p:txBody>
      </p:sp>
      <p:pic>
        <p:nvPicPr>
          <p:cNvPr id="10" name="Picture 9" descr="cr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9915"/>
            <a:ext cx="6537960" cy="46764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86600" y="1060704"/>
            <a:ext cx="4718304" cy="47548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1060704"/>
            <a:ext cx="4718304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1188719"/>
            <a:ext cx="431596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Three Bars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627632"/>
            <a:ext cx="4315968" cy="40416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14-day ATM call.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EXAMPLE.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Start, IV 50%: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3.98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stays 100,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IV falls to 25%: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2.03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rises to 102,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IV falls to 25%: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3.23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stock rose.</a:t>
            </a:r>
          </a:p>
          <a:p>
            <a:pPr algn="l">
              <a:lnSpc>
                <a:spcPts val="1971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call still fell.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989320"/>
            <a:ext cx="11420856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B4BECC"/>
                </a:solidFill>
                <a:latin typeface="Liberation Sans"/>
                <a:ea typeface="Liberation Sans"/>
                <a:cs typeface="Liberation Sans"/>
              </a:rPr>
              <a:t>Often after an event. The option can lose value even if the stock stays flat, or rises. Black-Scholes, rate 4%, no dividend.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Earnings, and the 0DTE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356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3560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1224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IV is often bid up into the report, then it drops.</a:t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That drop is crush. The option can lose value even if the stock moves the right way.</a:t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actual IV is on the chain. It is not assumed.</a:t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option carries that vega. A spread carries less of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60704"/>
            <a:ext cx="5623560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60704"/>
            <a:ext cx="5623560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188719"/>
            <a:ext cx="5221224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0DTE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023110"/>
            <a:ext cx="5221224" cy="370789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This is the one-day spike on the gamma chart.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Theta is gone by the close.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0DTE column is that day's gamma.</a:t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not the weekly or monthly open interest, and it is not the swing wall.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Where the Loss Stops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11420856" cy="1188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1142085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88186"/>
            <a:ext cx="3017520" cy="370332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Long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506728"/>
            <a:ext cx="790041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premium paid. The contract can go to zero. It cannot go below zero.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59152"/>
            <a:ext cx="11420856" cy="1188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359152"/>
            <a:ext cx="11420856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786634"/>
            <a:ext cx="3017520" cy="370332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8EBEFF"/>
                </a:solidFill>
                <a:latin typeface="Liberation Sans"/>
                <a:ea typeface="Liberation Sans"/>
                <a:cs typeface="Liberation Sans"/>
              </a:rPr>
              <a:t>Debit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805176"/>
            <a:ext cx="790041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debit. The gain stops at the distance between the strikes, minus that debit.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657600"/>
            <a:ext cx="11420856" cy="1188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657600"/>
            <a:ext cx="11420856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085082"/>
            <a:ext cx="3017520" cy="370332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Credit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103624"/>
            <a:ext cx="7900416" cy="333247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width of the strikes, minus the credit. The gain stops at the credit.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956048"/>
            <a:ext cx="11420856" cy="11887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956048"/>
            <a:ext cx="11420856" cy="50292"/>
          </a:xfrm>
          <a:prstGeom prst="rect">
            <a:avLst/>
          </a:prstGeom>
          <a:solidFill>
            <a:srgbClr val="FF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383530"/>
            <a:ext cx="3017520" cy="370332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Naked Short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5253736"/>
            <a:ext cx="7900416" cy="629920"/>
          </a:xfrm>
          <a:prstGeom prst="rect">
            <a:avLst/>
          </a:prstGeom>
          <a:noFill/>
        </p:spPr>
        <p:txBody>
          <a:bodyPr wrap="square" rIns="109728" tIns="0" bIns="0"/>
          <a:lstStyle/>
          <a:p>
            <a:pPr algn="l">
              <a:lnSpc>
                <a:spcPts val="2336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No defined stop in the option itself. A short call is open-ended. A short put runs toward the strike.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Margin and Early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28132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627632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long option is paid in full. The debit is the cash outlay.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short option requires margin, because the loss may exceed the credit.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defined-risk spread margins the width, not an open-ended move.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broker can close a position that no longer fits the margin.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060704"/>
            <a:ext cx="5628132" cy="5212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6772" y="1060704"/>
            <a:ext cx="5628132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7940" y="1188719"/>
            <a:ext cx="5225796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Early Assignment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1627632"/>
            <a:ext cx="5225796" cy="44988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American options can be assigned before expiry.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short leg of a spread is the one that can be assigned.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long leg is the cover. It does not stop the assignment notice. It caps the stock position that assignment creates.</a:t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3194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naked short has no long leg behind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Flow, Dark Pool, and the Dollars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3697224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3697224" cy="50292"/>
          </a:xfrm>
          <a:prstGeom prst="rect">
            <a:avLst/>
          </a:prstGeom>
          <a:solidFill>
            <a:srgbClr val="C9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19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Options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041398"/>
            <a:ext cx="3294888" cy="17053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Large prints at a wall are more size than prints in the middle of the range.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Size is not the gamma map.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5864" y="1060704"/>
            <a:ext cx="3697224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5864" y="1060704"/>
            <a:ext cx="3697224" cy="50292"/>
          </a:xfrm>
          <a:prstGeom prst="rect">
            <a:avLst/>
          </a:prstGeom>
          <a:solidFill>
            <a:srgbClr val="8E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7032" y="1188719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Dark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032" y="1874519"/>
            <a:ext cx="3294888" cy="20391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Large stock prints near a wall are size in the stock, at that price.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Size is not the open-interest wall.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680" y="1060704"/>
            <a:ext cx="3697224" cy="324612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80" y="1060704"/>
            <a:ext cx="3697224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8848" y="1188719"/>
            <a:ext cx="3294888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041398"/>
            <a:ext cx="3294888" cy="17053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print does not replace the regime, the wall, or a close.</a:t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/>
            </a:r>
          </a:p>
          <a:p>
            <a:pPr algn="ctr">
              <a:lnSpc>
                <a:spcPts val="262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a number of contracts, or of shares.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480560"/>
            <a:ext cx="11420856" cy="169164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480560"/>
            <a:ext cx="11420856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617720"/>
            <a:ext cx="1101852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Dollar Premium. Price x Contracts x 100.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010912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EXAMPLE.  2.00 x 500 x 100 = 100,000 dollars.    12.00 x 80 x 100 = 96,000 dollars.</a:t>
            </a:r>
          </a:p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Similar money. Very different if you only count contracts.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October 16,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That Book, in One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060704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060704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Put wall 760. Call wall 775. Flip about 774.5. Spot about 763.2.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773936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773936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773936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Regime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1773936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Negative. Spot was under the flip. Most of 760 to 775 was too.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487168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487168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487168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6816" y="2487168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4h range was 760 to 775. It matched the walls.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200400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0400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0400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760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6" y="3200400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close through 760 stayed under the flip. The downside hedge could add fuel.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913632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913632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913632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775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3913632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 hold above 775 crossed the call wall and the flip. That is a new read.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626864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626864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56816" y="4626864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Long gamma rides a run. Short gamma, including a naked short, is exposed to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340096"/>
            <a:ext cx="11420856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5340096"/>
            <a:ext cx="1417320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340096"/>
            <a:ext cx="1417320" cy="640080"/>
          </a:xfrm>
          <a:prstGeom prst="rect">
            <a:avLst/>
          </a:prstGeom>
          <a:noFill/>
        </p:spPr>
        <p:txBody>
          <a:bodyPr wrap="square" lIns="36576" rIns="36576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6816" y="5340096"/>
            <a:ext cx="9683496" cy="640080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IV for that day is not in the example. GEX is a model of this book, not a tape.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Before the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32704" cy="24871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3270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152144"/>
            <a:ext cx="5340096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Regime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1752599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695958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Spot versus the flip, on the expiry you mean.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404872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348230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 positive: the hedge tends to fade.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057144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000502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Dealer negative: the hedge can chase.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060704"/>
            <a:ext cx="5632704" cy="24871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060704"/>
            <a:ext cx="563270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152144"/>
            <a:ext cx="5340096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Levels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1752599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1695958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Put wall and call wall, from open interest.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404872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2348230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same story on a second public source.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3057144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000502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Customer gamma and dealer gamma are opposite signs.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666744"/>
            <a:ext cx="5632704" cy="24871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666744"/>
            <a:ext cx="563270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758183"/>
            <a:ext cx="5340096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The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" y="4277106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220463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GEX is an estimate from open interest.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" y="4766310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709668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It is not the shares already hedged.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" y="5255514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198872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0DTE gamma is not the swing wall.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" y="5744718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688076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wick is not a held close.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3666744"/>
            <a:ext cx="5632704" cy="2487168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1344" y="3666744"/>
            <a:ext cx="5632704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758183"/>
            <a:ext cx="5340096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Structure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4277106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4220463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gamma or short gamma, for your position.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4766310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709668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Defined loss, or a naked short with no cap.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5255514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5198872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Debit, or credit. Theta is the other side of gamma.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5744718"/>
            <a:ext cx="146304" cy="146304"/>
          </a:xfrm>
          <a:prstGeom prst="rect">
            <a:avLst/>
          </a:prstGeom>
          <a:noFill/>
          <a:ln w="15875">
            <a:solidFill>
              <a:srgbClr val="3DD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5688076"/>
            <a:ext cx="5029200" cy="296163"/>
          </a:xfrm>
          <a:prstGeom prst="rect">
            <a:avLst/>
          </a:prstGeom>
          <a:noFill/>
        </p:spPr>
        <p:txBody>
          <a:bodyPr wrap="square" lIns="36576" rIns="73152" tIns="0" bIns="0"/>
          <a:lstStyle/>
          <a:p>
            <a:pPr algn="l">
              <a:lnSpc>
                <a:spcPts val="2043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Dollar premium is price times contracts times 100.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Easy Ways to Misread the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60704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060704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1060704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Treating the flip as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1773936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773936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773936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1773936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Reading the heatmap as put gamma.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487168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2487168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487168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2487168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Looking for a put-wall line on the by-strike chart.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200400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200400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0400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200400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Looking for a flip line on the by-strike chart.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913632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913632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913632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3913632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Setting a swing level from Directionalized Volume.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626864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626864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4626864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Using the 0DTE column as the swing wall.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340096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5340096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340096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5340096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Confusing dealer gamma with your own gamma.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1060704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1344" y="1060704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1060704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1060704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Treating GEX as shares already traded.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344" y="1773936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81344" y="1773936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344" y="1773936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1773936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Ignoring the customer-versus-dealer sign.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344" y="2487168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4" y="2487168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81344" y="2487168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2487168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Calling a wick a held close.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1344" y="3200400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1344" y="3200400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81344" y="3200400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200400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Counting contracts and skipping the dollar premium.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81344" y="3913632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81344" y="3913632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81344" y="3913632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3913632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Forgetting a naked short has no cap.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81344" y="4626864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81344" y="4626864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81344" y="4626864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4626864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Averaging two expiries into a new strike.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81344" y="5340096"/>
            <a:ext cx="5632704" cy="6400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81344" y="5340096"/>
            <a:ext cx="566928" cy="640080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81344" y="5340096"/>
            <a:ext cx="566928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FF7676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5340096"/>
            <a:ext cx="4800600" cy="640080"/>
          </a:xfrm>
          <a:prstGeom prst="rect">
            <a:avLst/>
          </a:prstGeom>
          <a:noFill/>
        </p:spPr>
        <p:txBody>
          <a:bodyPr wrap="square" lIns="54864" rIns="73152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Reading a pin as a promise.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Words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60704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060704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Delta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1060704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Share count for the dealer hedge. For a long option, how it tracks the stock.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700784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700784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1700784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How fast delta changes as the stock price moves.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340863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340863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Long Gamma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340863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Your delta increases as price moves your way. Long options. You pay theta.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980944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980944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Short Gamma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2980944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Your delta moves against you as price runs. Short options. You collect theta.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621024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621024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Theta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3621024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Decay. What time takes from a long option, and what a short option collects.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261104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261104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Vega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261104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How much the option price changes when IV changes.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4901183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901183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901183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The volatility implied by the option's price. VIX is the index version.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5541264"/>
            <a:ext cx="2148840" cy="566928"/>
          </a:xfrm>
          <a:prstGeom prst="rect">
            <a:avLst/>
          </a:prstGeom>
          <a:solidFill>
            <a:srgbClr val="22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541264"/>
            <a:ext cx="2148840" cy="566928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GEX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5541264"/>
            <a:ext cx="8961120" cy="566928"/>
          </a:xfrm>
          <a:prstGeom prst="rect">
            <a:avLst/>
          </a:prstGeom>
          <a:noFill/>
        </p:spPr>
        <p:txBody>
          <a:bodyPr wrap="square" lIns="73152" rIns="73152" tIns="0" bIns="0"/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model of dealer hedge from open interest. Not a tape of shares.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Levels and the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42415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097280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Call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371600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Heavy call open interest above spot. Often resistance.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042415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097280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Credit Spread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371600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Short a nearer strike, long a further one. Max gain is the credit. Max loss is the width minus the credit.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920239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1975103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Put 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249423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Heavy put open interest below spot. Often support. Longest purple bar under spot.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920239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975103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Iron Condor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2249423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short put spread and a short call spread. Profit if price finishes between the short strikes.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798063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852927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Flip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127247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Where net gamma changes sign. A behavior change. Not support.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798063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2852927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Butterfly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3127247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Long the wings, short two at the body. Profit if price finishes near the body.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675887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730751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Positive Gamma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005072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Above the flip, for the dealer book. The hedge tends to fade. Price can range and pin.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675887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3730751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Naked Short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4005072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short option with no long leg covering it. The loss is not capped. Margin is required.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4553712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4608575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Negative Gamma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4882896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Below the flip, for the dealer book. The hedge can chase. Price can extend.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553712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0216" y="4608575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0DTE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882896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Expires the same day. Extreme gamma. Extreme theta. Not the swing open interest.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5431536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5486399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Gamma Squeeze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5760720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Short-gamma hedging that buys into a rise, or sells into a drop, and can feed the move.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431536"/>
            <a:ext cx="5632704" cy="82296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5486399"/>
            <a:ext cx="537667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IV Crush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216" y="5760720"/>
            <a:ext cx="5376672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A fast drop in IV, often after an event. The option can lose value anyway.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The Whole Swing on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822960"/>
            <a:ext cx="457200" cy="25603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828446"/>
            <a:ext cx="10963656" cy="10972"/>
          </a:xfrm>
          <a:prstGeom prst="rect">
            <a:avLst/>
          </a:prstGeom>
          <a:solidFill>
            <a:srgbClr val="31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47104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Gamma Swing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4710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US">
                <a:solidFill>
                  <a:srgbClr val="A8B3C2"/>
                </a:solidFill>
                <a:latin typeface="Liberation Sans"/>
                <a:ea typeface="Liberation Sans"/>
                <a:cs typeface="Liberation Sans"/>
              </a:rPr>
              <a:t>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042415"/>
            <a:ext cx="5628132" cy="47548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42415"/>
            <a:ext cx="5628132" cy="50292"/>
          </a:xfrm>
          <a:prstGeom prst="rect">
            <a:avLst/>
          </a:prstGeom>
          <a:solidFill>
            <a:srgbClr val="3DD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52144"/>
            <a:ext cx="562813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3DDCB0"/>
                </a:solidFill>
                <a:latin typeface="Liberation Sans"/>
                <a:ea typeface="Liberation Sans"/>
                <a:cs typeface="Liberation Sans"/>
              </a:rPr>
              <a:t>Read It in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608455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1  Mark put wall, call wall, flip, and spot.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067687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2  Name the expiry. 0DTE is not the swing book.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526919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3  Check the three levels on a second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86151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4  Dealer positive: the hedge tends to fade.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445383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5  Dealer negative: the hedge can chase.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904615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6  Your gamma is long or short, separately.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363847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7  A credit spread, condor, or butterfly is short gamma.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823079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8  A naked short has no cap, and it uses margin.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282311"/>
            <a:ext cx="5335524" cy="314705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219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9  GEX is a model. A wick is not a held close.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1042415"/>
            <a:ext cx="5628132" cy="475488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1042415"/>
            <a:ext cx="5628132" cy="50292"/>
          </a:xfrm>
          <a:prstGeom prst="rect">
            <a:avLst/>
          </a:prstGeom>
          <a:solidFill>
            <a:srgbClr val="E6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6772" y="1152144"/>
            <a:ext cx="562813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US">
                <a:solidFill>
                  <a:srgbClr val="E6B54A"/>
                </a:solidFill>
                <a:latin typeface="Liberation Sans"/>
                <a:ea typeface="Liberation Sans"/>
                <a:cs typeface="Liberation Sans"/>
              </a:rPr>
              <a:t>Keep These Straight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1591056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Flip: behavior change. Not support.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1965128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Walls: call strike above, put strike below.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2339201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Heatmap color: net gamma.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2713274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Put wall: longest purple bar below spot.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3076" y="3087346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By-strike draws the call wall and spot only.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076" y="3461419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Open interest: the swing. Volume: the day.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3076" y="3835492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VIX: the price of index volatility.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3076" y="4209565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Squeeze: the hedge can feed the move.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3076" y="4583637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Single names gap. Index books are deeper.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076" y="4957710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Dollar premium: price x contracts x 100.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3076" y="5331783"/>
            <a:ext cx="5335524" cy="282632"/>
          </a:xfrm>
          <a:prstGeom prst="rect">
            <a:avLst/>
          </a:prstGeom>
          <a:noFill/>
        </p:spPr>
        <p:txBody>
          <a:bodyPr wrap="square" lIns="54864" rIns="54864" tIns="0" bIns="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US">
                <a:solidFill>
                  <a:srgbClr val="D5DDE8"/>
                </a:solidFill>
                <a:latin typeface="Liberation Sans"/>
                <a:ea typeface="Liberation Sans"/>
                <a:cs typeface="Liberation Sans"/>
              </a:rPr>
              <a:t>Customer gamma flips the dealer colors.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5925312"/>
            <a:ext cx="11420856" cy="457200"/>
          </a:xfrm>
          <a:prstGeom prst="rect">
            <a:avLst/>
          </a:prstGeom>
          <a:solidFill>
            <a:srgbClr val="171D28"/>
          </a:solidFill>
          <a:ln w="12700">
            <a:solidFill>
              <a:srgbClr val="31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5925312"/>
            <a:ext cx="11420856" cy="457200"/>
          </a:xfrm>
          <a:prstGeom prst="rect">
            <a:avLst/>
          </a:prstGeom>
          <a:noFill/>
        </p:spPr>
        <p:txBody>
          <a:bodyPr wrap="square" tIns="0" bIns="0"/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US">
                <a:solidFill>
                  <a:srgbClr val="F4F7FB"/>
                </a:solidFill>
                <a:latin typeface="Liberation Sans"/>
                <a:ea typeface="Liberation Sans"/>
                <a:cs typeface="Liberation Sans"/>
              </a:rPr>
              <a:t>Dealers hedge. Gamma shows the push. Your gamma is a separate 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Gamma Swing Trading</dc:title>
  <dc:subject>Dealer gamma, walls, and candle-close swings</dc:subject>
  <dc:creator>Gamma Swing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